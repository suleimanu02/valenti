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esteemed examiners. Today, I am proud to present Valenti Atelier—a bespoke direct-to-consumer luxury fashion house and digital retailing portal developed for SEN 803 Software Technology. In this 10-minute presentation, I will demonstrate how strategic software architecture eliminates intermediate retail markups, creates automated consumer value, and drives measurable business efficiency, followed by a live walkthrough of our published local portal on port 8000.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Historically, luxury fashion has been crippled by inefficient supply chains. A coat costing £120 to manufacture ends up priced at £1,200 in department stores due to distributor markups and boutique real estate overheads. Valenti Atelier dismantles this archaic structure. By deploying a proprietary B2C e-commerce portal, we offer identical Savile Row-grade pieces at £350 to £500, capturing a superior 65% gross margin while offering unrivaled consumer value.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strict accordance with Table 1 of the SEN 803 brief—Online Shop Operations—our portal leverages IT across four critical pillars. First, digital merchandising with multi-faceted filtering and real-time stock counters. Second, an automated conversion engine featuring our custom voucher rules including our SEN803 course discount. Third, consumer trust through an interactive 4-stage logistics dispatch tracker. And fourth, an administrative back-office providing live KPI intelligence and inventory controls.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software architecture follows an industry-standard 3-tier design. At the front, we eliminated bloated client frameworks in favor of optimized semantic HTML5 and CSS3, achieving sub-200ms page load times. The backend is powered by native PHP 8.2 with rigorous session security. And for our database, we implemented a dual-driver PDO architecture that runs seamlessly on XAMPP MySQL, but also includes an automatic SQLite fallback with auto-seeding for flawless examiner portability.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and data integrity were engineered into every layer. Our database is strictly normalized into seven relational tables. All database queries use prepared statements with parameterized inputs, providing complete immunity against SQL injection. User passwords are encrypted with BCrypt hashing, administrative endpoints are protected by Role-Based Access Controls, and state-modifying requests require cryptographically validated CSRF tokens.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this juncture, as required by Section 4(c) of our project brief, I will now switch to our live published prototype running on our local server at localhost:8000 to demonstrate the end-to-end consumer shopping journey and back-office administrative workflows.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[DURING LIVE DEMO]: Here on our homepage, you observe the refined light editorial styling. Navigating to our Collection page, our faceted filter allows patrons to isolate garments by department, size, or price. Selecting the Savile Cashmere Overcoat, you see our dynamic stock counter showing scarcity. Adding this to our bag and proceeding to cart, I will now input our course promotional code: S-E-N-8-0-3. Instantly, our algorithmic pricing engine recalculates the subtotal, deducting 20% while maintaining full tax compliance. Completing checkout with simulated card payment brings us to our official invoice and our interactive 4-stage tracking timeline. Now, switching over to our Operations Console at /admin, executive managers immediately see updated Gross Sales KPIs, low-stock alerts, and full garment inventory management controls.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Turning to our financial model, our unit economics are exceptionally robust. Because we eliminate wholesale distribution intermediaries, our gross product margins remain above 68%. Furthermore, our promotional voucher architecture is economically sound: even with a 20% discount applied via voucher SEN803, our gross margin on an average basket remains over 63%, generating immediate cash flow while accelerating new customer acquisition.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ensure long-term viability, we conducted a rigorous risk assessment. High-traffic flash sales and seasonal capsule drops are mitigated through a clear scalability roadmap: containerizing our application with Docker, offloading image assets to Cloudflare Edge CDN, and integrating Redis in-memory caching. Additionally, the platform adheres to GDPR data privacy regulations with secure session management and patron consent mechanisms.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Valenti Atelier provides a complete, academically rigorous, and commercially viable demonstration of how software technology transforms B2C commerce. We have satisfied all requirements of the SEN 803 brief: delivering the business plan report, developing and publishing the local prototype portal, and illustrating its strategic value. Thank you very much for your time, and I am now ready for your questions and examination discussion.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371600" y="914400"/>
            <a:ext cx="9448495" cy="5029200"/>
          </a:xfrm>
          <a:prstGeom prst="roundRect">
            <a:avLst/>
          </a:prstGeom>
          <a:solidFill>
            <a:srgbClr val="101D30"/>
          </a:solidFill>
          <a:ln w="12700">
            <a:solidFill>
              <a:srgbClr val="C5A8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45920" y="1188720"/>
            <a:ext cx="8869680" cy="457200"/>
          </a:xfrm>
          <a:prstGeom prst="rect">
            <a:avLst/>
          </a:prstGeom>
          <a:noFill/>
        </p:spPr>
        <p:txBody>
          <a:bodyPr wrap="none">
            <a:spAutoFit/>
          </a:bodyPr>
          <a:lstStyle/>
          <a:p>
            <a:pPr algn="ctr">
              <a:defRPr sz="1100" b="1">
                <a:solidFill>
                  <a:srgbClr val="C5A880"/>
                </a:solidFill>
                <a:latin typeface="Arial"/>
              </a:defRPr>
            </a:pPr>
            <a:r>
              <a:t>POSTGRADUATE SOFTWARE TECHNOLOGY | SEN 803 COURSE PROJECT DEFENSE</a:t>
            </a:r>
          </a:p>
        </p:txBody>
      </p:sp>
      <p:sp>
        <p:nvSpPr>
          <p:cNvPr id="5" name="TextBox 4"/>
          <p:cNvSpPr txBox="1"/>
          <p:nvPr/>
        </p:nvSpPr>
        <p:spPr>
          <a:xfrm>
            <a:off x="1645920" y="1645920"/>
            <a:ext cx="8869680" cy="1188720"/>
          </a:xfrm>
          <a:prstGeom prst="rect">
            <a:avLst/>
          </a:prstGeom>
          <a:noFill/>
        </p:spPr>
        <p:txBody>
          <a:bodyPr wrap="none">
            <a:spAutoFit/>
          </a:bodyPr>
          <a:lstStyle/>
          <a:p>
            <a:pPr algn="ctr">
              <a:defRPr sz="4000" b="1">
                <a:solidFill>
                  <a:srgbClr val="FFFFFF"/>
                </a:solidFill>
                <a:latin typeface="Georgia"/>
              </a:defRPr>
            </a:pPr>
            <a:r>
              <a:t>VALENTI ATELIER</a:t>
            </a:r>
          </a:p>
          <a:p>
            <a:pPr algn="ctr">
              <a:defRPr sz="1600" b="1">
                <a:solidFill>
                  <a:srgbClr val="E5D4BE"/>
                </a:solidFill>
                <a:latin typeface="Calibri"/>
              </a:defRPr>
            </a:pPr>
            <a:r>
              <a:t>Leveraging Software Technology to Create Strategic Value in B2C Luxury Retailing</a:t>
            </a:r>
          </a:p>
        </p:txBody>
      </p:sp>
      <p:sp>
        <p:nvSpPr>
          <p:cNvPr id="6" name="TextBox 5"/>
          <p:cNvSpPr txBox="1"/>
          <p:nvPr/>
        </p:nvSpPr>
        <p:spPr>
          <a:xfrm>
            <a:off x="1828800" y="3108960"/>
            <a:ext cx="8503920" cy="2377440"/>
          </a:xfrm>
          <a:prstGeom prst="rect">
            <a:avLst/>
          </a:prstGeom>
          <a:noFill/>
        </p:spPr>
        <p:txBody>
          <a:bodyPr wrap="none">
            <a:spAutoFit/>
          </a:bodyPr>
          <a:lstStyle/>
          <a:p>
            <a:pPr algn="ctr">
              <a:defRPr sz="1300" b="1">
                <a:solidFill>
                  <a:srgbClr val="FFFFFF"/>
                </a:solidFill>
                <a:latin typeface="Calibri"/>
              </a:defRPr>
            </a:pPr>
            <a:r>
              <a:t>• Candidate: Sulaiman Adamu Ahmad   |   Academic Session: 2026 •</a:t>
            </a:r>
          </a:p>
          <a:p>
            <a:pPr algn="ctr">
              <a:defRPr sz="1200">
                <a:solidFill>
                  <a:srgbClr val="10B981"/>
                </a:solidFill>
                <a:latin typeface="Calibri"/>
              </a:defRPr>
            </a:pPr>
            <a:r>
              <a:t>• Prototype Status: Published &amp; Live on Local Server (http://localhost:8000/) •</a:t>
            </a:r>
          </a:p>
          <a:p>
            <a:pPr algn="ctr">
              <a:defRPr sz="1100">
                <a:solidFill>
                  <a:srgbClr val="94A3B8"/>
                </a:solidFill>
                <a:latin typeface="Calibri"/>
              </a:defRPr>
            </a:pPr>
            <a:br/>
            <a:r>
              <a:t>Course Deliverables: Prototype Portal (60 Marks)  |  Business Plan (30 Marks)  |  Defense Walkthrough (10%)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7315200" cy="365760"/>
          </a:xfrm>
          <a:prstGeom prst="rect">
            <a:avLst/>
          </a:prstGeom>
          <a:noFill/>
        </p:spPr>
        <p:txBody>
          <a:bodyPr wrap="square">
            <a:spAutoFit/>
          </a:bodyPr>
          <a:lstStyle/>
          <a:p>
            <a:pPr>
              <a:defRPr sz="1000" b="1">
                <a:solidFill>
                  <a:srgbClr val="C5A880"/>
                </a:solidFill>
                <a:latin typeface="Arial"/>
              </a:defRPr>
            </a:pPr>
            <a:r>
              <a:t>SLIDE 2 • MARKET OPPORTUNITY</a:t>
            </a:r>
          </a:p>
        </p:txBody>
      </p:sp>
      <p:sp>
        <p:nvSpPr>
          <p:cNvPr id="4" name="TextBox 3"/>
          <p:cNvSpPr txBox="1"/>
          <p:nvPr/>
        </p:nvSpPr>
        <p:spPr>
          <a:xfrm>
            <a:off x="9601200" y="365760"/>
            <a:ext cx="1828800" cy="320040"/>
          </a:xfrm>
          <a:prstGeom prst="rect">
            <a:avLst/>
          </a:prstGeom>
          <a:noFill/>
        </p:spPr>
        <p:txBody>
          <a:bodyPr wrap="none">
            <a:spAutoFit/>
          </a:bodyPr>
          <a:lstStyle/>
          <a:p>
            <a:pPr algn="r">
              <a:defRPr sz="1100" b="1">
                <a:solidFill>
                  <a:srgbClr val="C5A880"/>
                </a:solidFill>
                <a:latin typeface="Arial"/>
              </a:defRPr>
            </a:pPr>
            <a:r>
              <a:t>⏱ 0:35 – 1:15</a:t>
            </a:r>
          </a:p>
        </p:txBody>
      </p:sp>
      <p:sp>
        <p:nvSpPr>
          <p:cNvPr id="5" name="TextBox 4"/>
          <p:cNvSpPr txBox="1"/>
          <p:nvPr/>
        </p:nvSpPr>
        <p:spPr>
          <a:xfrm>
            <a:off x="731520" y="731520"/>
            <a:ext cx="10698480" cy="731520"/>
          </a:xfrm>
          <a:prstGeom prst="rect">
            <a:avLst/>
          </a:prstGeom>
          <a:noFill/>
        </p:spPr>
        <p:txBody>
          <a:bodyPr wrap="square">
            <a:spAutoFit/>
          </a:bodyPr>
          <a:lstStyle/>
          <a:p>
            <a:pPr>
              <a:defRPr sz="2200" b="1">
                <a:solidFill>
                  <a:srgbClr val="FFFFFF"/>
                </a:solidFill>
                <a:latin typeface="Georgia"/>
              </a:defRPr>
            </a:pPr>
            <a:r>
              <a:t>The Problem: Traditional Wholesale vs. The B2C Solution</a:t>
            </a:r>
          </a:p>
        </p:txBody>
      </p:sp>
      <p:sp>
        <p:nvSpPr>
          <p:cNvPr id="6" name="Rectangle 5"/>
          <p:cNvSpPr/>
          <p:nvPr/>
        </p:nvSpPr>
        <p:spPr>
          <a:xfrm>
            <a:off x="731520" y="1508760"/>
            <a:ext cx="10728655" cy="18288"/>
          </a:xfrm>
          <a:prstGeom prst="rect">
            <a:avLst/>
          </a:prstGeom>
          <a:solidFill>
            <a:srgbClr val="283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737360"/>
            <a:ext cx="5212080" cy="4389120"/>
          </a:xfrm>
          <a:prstGeom prst="roundRect">
            <a:avLst/>
          </a:prstGeom>
          <a:solidFill>
            <a:srgbClr val="132238"/>
          </a:solidFill>
          <a:ln w="12700">
            <a:solidFill>
              <a:srgbClr val="E53E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4846320" cy="4114800"/>
          </a:xfrm>
          <a:prstGeom prst="rect">
            <a:avLst/>
          </a:prstGeom>
          <a:noFill/>
        </p:spPr>
        <p:txBody>
          <a:bodyPr wrap="square">
            <a:spAutoFit/>
          </a:bodyPr>
          <a:lstStyle/>
          <a:p>
            <a:pPr>
              <a:defRPr sz="1200" b="1">
                <a:solidFill>
                  <a:srgbClr val="FC8181"/>
                </a:solidFill>
                <a:latin typeface="Arial"/>
              </a:defRPr>
            </a:pPr>
            <a:r>
              <a:t>TRADITIONAL WHOLESALE MODEL (BROKEN)</a:t>
            </a:r>
          </a:p>
          <a:p>
            <a:pPr>
              <a:spcBef>
                <a:spcPts val="800"/>
              </a:spcBef>
              <a:defRPr sz="1250">
                <a:solidFill>
                  <a:srgbClr val="94A3B8"/>
                </a:solidFill>
                <a:latin typeface="Calibri"/>
              </a:defRPr>
            </a:pPr>
            <a:r>
              <a:t>• Multi-Tiered Intermediaries: Brands sell to agents, wholesalers, and department stores, each adding 100-200% margins.</a:t>
            </a:r>
          </a:p>
          <a:p>
            <a:pPr>
              <a:spcBef>
                <a:spcPts val="800"/>
              </a:spcBef>
              <a:defRPr sz="1250">
                <a:solidFill>
                  <a:srgbClr val="94A3B8"/>
                </a:solidFill>
                <a:latin typeface="Calibri"/>
              </a:defRPr>
            </a:pPr>
            <a:r>
              <a:t>• Bloated Consumer Pricing: A coat costing £120 to produce is marked up to £1,200 on department store shelves.</a:t>
            </a:r>
          </a:p>
          <a:p>
            <a:pPr>
              <a:spcBef>
                <a:spcPts val="800"/>
              </a:spcBef>
              <a:defRPr sz="1250">
                <a:solidFill>
                  <a:srgbClr val="94A3B8"/>
                </a:solidFill>
                <a:latin typeface="Calibri"/>
              </a:defRPr>
            </a:pPr>
            <a:r>
              <a:t>• Opaque Inventory &amp; Stockouts: Zero live visibility across decentralized distributor networks.</a:t>
            </a:r>
          </a:p>
          <a:p>
            <a:pPr>
              <a:spcBef>
                <a:spcPts val="800"/>
              </a:spcBef>
              <a:defRPr sz="1250">
                <a:solidFill>
                  <a:srgbClr val="94A3B8"/>
                </a:solidFill>
                <a:latin typeface="Calibri"/>
              </a:defRPr>
            </a:pPr>
            <a:r>
              <a:t>• Disconnected Customer Relationship: Brands have no direct data or contact with end consumers.</a:t>
            </a:r>
          </a:p>
        </p:txBody>
      </p:sp>
      <p:sp>
        <p:nvSpPr>
          <p:cNvPr id="9" name="Rounded Rectangle 8"/>
          <p:cNvSpPr/>
          <p:nvPr/>
        </p:nvSpPr>
        <p:spPr>
          <a:xfrm>
            <a:off x="6217920" y="1737360"/>
            <a:ext cx="5212080" cy="4389120"/>
          </a:xfrm>
          <a:prstGeom prst="roundRect">
            <a:avLst/>
          </a:prstGeom>
          <a:solidFill>
            <a:srgbClr val="132238"/>
          </a:solidFill>
          <a:ln w="12700">
            <a:solidFill>
              <a:srgbClr val="C5A8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828800"/>
            <a:ext cx="4846320" cy="4114800"/>
          </a:xfrm>
          <a:prstGeom prst="rect">
            <a:avLst/>
          </a:prstGeom>
          <a:noFill/>
        </p:spPr>
        <p:txBody>
          <a:bodyPr wrap="square">
            <a:spAutoFit/>
          </a:bodyPr>
          <a:lstStyle/>
          <a:p>
            <a:pPr>
              <a:defRPr sz="1200" b="1">
                <a:solidFill>
                  <a:srgbClr val="C5A880"/>
                </a:solidFill>
                <a:latin typeface="Arial"/>
              </a:defRPr>
            </a:pPr>
            <a:r>
              <a:t>VALENTI ATELIER B2C PORTAL (THE SOLUTION)</a:t>
            </a:r>
          </a:p>
          <a:p>
            <a:pPr>
              <a:spcBef>
                <a:spcPts val="800"/>
              </a:spcBef>
              <a:defRPr sz="1250">
                <a:solidFill>
                  <a:srgbClr val="FFFFFF"/>
                </a:solidFill>
                <a:latin typeface="Calibri"/>
              </a:defRPr>
            </a:pPr>
            <a:r>
              <a:t>✓ Pure Direct-to-Consumer (B2C): Proprietary web portal connecting manufacturing directly to global patrons.</a:t>
            </a:r>
          </a:p>
          <a:p>
            <a:pPr>
              <a:spcBef>
                <a:spcPts val="800"/>
              </a:spcBef>
              <a:defRPr sz="1250">
                <a:solidFill>
                  <a:srgbClr val="FFFFFF"/>
                </a:solidFill>
                <a:latin typeface="Calibri"/>
              </a:defRPr>
            </a:pPr>
            <a:r>
              <a:t>✓ Accessible Luxury Pricing: Identical Savile Row quality sold for £350–£500 while retaining 65–70% gross margins.</a:t>
            </a:r>
          </a:p>
          <a:p>
            <a:pPr>
              <a:spcBef>
                <a:spcPts val="800"/>
              </a:spcBef>
              <a:defRPr sz="1250">
                <a:solidFill>
                  <a:srgbClr val="FFFFFF"/>
                </a:solidFill>
                <a:latin typeface="Calibri"/>
              </a:defRPr>
            </a:pPr>
            <a:r>
              <a:t>✓ Real-Time Stock Counters: Automated database triggers providing live scarcity indicators directly on product pages.</a:t>
            </a:r>
          </a:p>
          <a:p>
            <a:pPr>
              <a:spcBef>
                <a:spcPts val="800"/>
              </a:spcBef>
              <a:defRPr sz="1250">
                <a:solidFill>
                  <a:srgbClr val="FFFFFF"/>
                </a:solidFill>
                <a:latin typeface="Calibri"/>
              </a:defRPr>
            </a:pPr>
            <a:r>
              <a:t>✓ Direct Client Relationship: Seamless order history, official invoice receipts, and interactive 4-stage dispatch tracking.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7315200" cy="365760"/>
          </a:xfrm>
          <a:prstGeom prst="rect">
            <a:avLst/>
          </a:prstGeom>
          <a:noFill/>
        </p:spPr>
        <p:txBody>
          <a:bodyPr wrap="square">
            <a:spAutoFit/>
          </a:bodyPr>
          <a:lstStyle/>
          <a:p>
            <a:pPr>
              <a:defRPr sz="1000" b="1">
                <a:solidFill>
                  <a:srgbClr val="C5A880"/>
                </a:solidFill>
                <a:latin typeface="Arial"/>
              </a:defRPr>
            </a:pPr>
            <a:r>
              <a:t>SLIDE 3 • COURSE BRIEF ALIGNMENT</a:t>
            </a:r>
          </a:p>
        </p:txBody>
      </p:sp>
      <p:sp>
        <p:nvSpPr>
          <p:cNvPr id="4" name="TextBox 3"/>
          <p:cNvSpPr txBox="1"/>
          <p:nvPr/>
        </p:nvSpPr>
        <p:spPr>
          <a:xfrm>
            <a:off x="9601200" y="365760"/>
            <a:ext cx="1828800" cy="320040"/>
          </a:xfrm>
          <a:prstGeom prst="rect">
            <a:avLst/>
          </a:prstGeom>
          <a:noFill/>
        </p:spPr>
        <p:txBody>
          <a:bodyPr wrap="none">
            <a:spAutoFit/>
          </a:bodyPr>
          <a:lstStyle/>
          <a:p>
            <a:pPr algn="r">
              <a:defRPr sz="1100" b="1">
                <a:solidFill>
                  <a:srgbClr val="C5A880"/>
                </a:solidFill>
                <a:latin typeface="Arial"/>
              </a:defRPr>
            </a:pPr>
            <a:r>
              <a:t>⏱ 1:15 – 2:00</a:t>
            </a:r>
          </a:p>
        </p:txBody>
      </p:sp>
      <p:sp>
        <p:nvSpPr>
          <p:cNvPr id="5" name="TextBox 4"/>
          <p:cNvSpPr txBox="1"/>
          <p:nvPr/>
        </p:nvSpPr>
        <p:spPr>
          <a:xfrm>
            <a:off x="731520" y="731520"/>
            <a:ext cx="10698480" cy="731520"/>
          </a:xfrm>
          <a:prstGeom prst="rect">
            <a:avLst/>
          </a:prstGeom>
          <a:noFill/>
        </p:spPr>
        <p:txBody>
          <a:bodyPr wrap="square">
            <a:spAutoFit/>
          </a:bodyPr>
          <a:lstStyle/>
          <a:p>
            <a:pPr>
              <a:defRPr sz="2200" b="1">
                <a:solidFill>
                  <a:srgbClr val="FFFFFF"/>
                </a:solidFill>
                <a:latin typeface="Georgia"/>
              </a:defRPr>
            </a:pPr>
            <a:r>
              <a:t>IT Value Creation Framework (Table 1: Online Shop)</a:t>
            </a:r>
          </a:p>
        </p:txBody>
      </p:sp>
      <p:sp>
        <p:nvSpPr>
          <p:cNvPr id="6" name="Rectangle 5"/>
          <p:cNvSpPr/>
          <p:nvPr/>
        </p:nvSpPr>
        <p:spPr>
          <a:xfrm>
            <a:off x="731520" y="1508760"/>
            <a:ext cx="10728655" cy="18288"/>
          </a:xfrm>
          <a:prstGeom prst="rect">
            <a:avLst/>
          </a:prstGeom>
          <a:solidFill>
            <a:srgbClr val="283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737360"/>
            <a:ext cx="5212080" cy="2103120"/>
          </a:xfrm>
          <a:prstGeom prst="roundRect">
            <a:avLst/>
          </a:prstGeom>
          <a:solidFill>
            <a:srgbClr val="132238"/>
          </a:solidFill>
          <a:ln w="12700">
            <a:solidFill>
              <a:srgbClr val="283D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74520"/>
            <a:ext cx="4846320" cy="1828800"/>
          </a:xfrm>
          <a:prstGeom prst="rect">
            <a:avLst/>
          </a:prstGeom>
          <a:noFill/>
        </p:spPr>
        <p:txBody>
          <a:bodyPr wrap="square">
            <a:spAutoFit/>
          </a:bodyPr>
          <a:lstStyle/>
          <a:p>
            <a:pPr>
              <a:defRPr sz="1300" b="1">
                <a:solidFill>
                  <a:srgbClr val="C5A880"/>
                </a:solidFill>
                <a:latin typeface="Arial"/>
              </a:defRPr>
            </a:pPr>
            <a:r>
              <a:t>1. Digital Merchandising</a:t>
            </a:r>
          </a:p>
          <a:p>
            <a:pPr>
              <a:spcBef>
                <a:spcPts val="400"/>
              </a:spcBef>
              <a:defRPr sz="1150">
                <a:solidFill>
                  <a:srgbClr val="94A3B8"/>
                </a:solidFill>
                <a:latin typeface="Calibri"/>
              </a:defRPr>
            </a:pPr>
            <a:r>
              <a:t>• High-resolution editorial photography</a:t>
            </a:r>
            <a:br/>
            <a:r>
              <a:t>• Multi-facet filtering (Category, Gender, Size, Price)</a:t>
            </a:r>
            <a:br/>
            <a:r>
              <a:t>• Dynamic stock scarcity counters</a:t>
            </a:r>
            <a:br/>
            <a:r>
              <a:t>• Verified fitting reviews</a:t>
            </a:r>
          </a:p>
        </p:txBody>
      </p:sp>
      <p:sp>
        <p:nvSpPr>
          <p:cNvPr id="9" name="Rounded Rectangle 8"/>
          <p:cNvSpPr/>
          <p:nvPr/>
        </p:nvSpPr>
        <p:spPr>
          <a:xfrm>
            <a:off x="6217920" y="1737360"/>
            <a:ext cx="5212080" cy="2103120"/>
          </a:xfrm>
          <a:prstGeom prst="roundRect">
            <a:avLst/>
          </a:prstGeom>
          <a:solidFill>
            <a:srgbClr val="132238"/>
          </a:solidFill>
          <a:ln w="12700">
            <a:solidFill>
              <a:srgbClr val="283D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874520"/>
            <a:ext cx="4846320" cy="1828800"/>
          </a:xfrm>
          <a:prstGeom prst="rect">
            <a:avLst/>
          </a:prstGeom>
          <a:noFill/>
        </p:spPr>
        <p:txBody>
          <a:bodyPr wrap="square">
            <a:spAutoFit/>
          </a:bodyPr>
          <a:lstStyle/>
          <a:p>
            <a:pPr>
              <a:defRPr sz="1300" b="1">
                <a:solidFill>
                  <a:srgbClr val="C5A880"/>
                </a:solidFill>
                <a:latin typeface="Arial"/>
              </a:defRPr>
            </a:pPr>
            <a:r>
              <a:t>2. Frictionless Transactions</a:t>
            </a:r>
          </a:p>
          <a:p>
            <a:pPr>
              <a:spcBef>
                <a:spcPts val="400"/>
              </a:spcBef>
              <a:defRPr sz="1150">
                <a:solidFill>
                  <a:srgbClr val="94A3B8"/>
                </a:solidFill>
                <a:latin typeface="Calibri"/>
              </a:defRPr>
            </a:pPr>
            <a:r>
              <a:t>• Real-time shopping bag recalculation</a:t>
            </a:r>
            <a:br/>
            <a:r>
              <a:t>• Algorithmic voucher engine (SEN803 20% discount)</a:t>
            </a:r>
            <a:br/>
            <a:r>
              <a:t>• Dynamic tax &amp; free shipping math</a:t>
            </a:r>
            <a:br/>
            <a:r>
              <a:t>• Simulated multi-rail payment channels</a:t>
            </a:r>
          </a:p>
        </p:txBody>
      </p:sp>
      <p:sp>
        <p:nvSpPr>
          <p:cNvPr id="11" name="Rounded Rectangle 10"/>
          <p:cNvSpPr/>
          <p:nvPr/>
        </p:nvSpPr>
        <p:spPr>
          <a:xfrm>
            <a:off x="731520" y="4023360"/>
            <a:ext cx="5212080" cy="2103120"/>
          </a:xfrm>
          <a:prstGeom prst="roundRect">
            <a:avLst/>
          </a:prstGeom>
          <a:solidFill>
            <a:srgbClr val="132238"/>
          </a:solidFill>
          <a:ln w="12700">
            <a:solidFill>
              <a:srgbClr val="283D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160520"/>
            <a:ext cx="4846320" cy="1828800"/>
          </a:xfrm>
          <a:prstGeom prst="rect">
            <a:avLst/>
          </a:prstGeom>
          <a:noFill/>
        </p:spPr>
        <p:txBody>
          <a:bodyPr wrap="square">
            <a:spAutoFit/>
          </a:bodyPr>
          <a:lstStyle/>
          <a:p>
            <a:pPr>
              <a:defRPr sz="1300" b="1">
                <a:solidFill>
                  <a:srgbClr val="C5A880"/>
                </a:solidFill>
                <a:latin typeface="Arial"/>
              </a:defRPr>
            </a:pPr>
            <a:r>
              <a:t>3. Logistics Transparency</a:t>
            </a:r>
          </a:p>
          <a:p>
            <a:pPr>
              <a:spcBef>
                <a:spcPts val="400"/>
              </a:spcBef>
              <a:defRPr sz="1150">
                <a:solidFill>
                  <a:srgbClr val="94A3B8"/>
                </a:solidFill>
                <a:latin typeface="Calibri"/>
              </a:defRPr>
            </a:pPr>
            <a:r>
              <a:t>• Instant printable official tax invoices</a:t>
            </a:r>
            <a:br/>
            <a:r>
              <a:t>• Interactive 4-stage dispatch tracking</a:t>
            </a:r>
            <a:br/>
            <a:r>
              <a:t>• Real-time courier status transitions</a:t>
            </a:r>
            <a:br/>
            <a:r>
              <a:t>• Eliminates post-purchase customer anxiety</a:t>
            </a:r>
          </a:p>
        </p:txBody>
      </p:sp>
      <p:sp>
        <p:nvSpPr>
          <p:cNvPr id="13" name="Rounded Rectangle 12"/>
          <p:cNvSpPr/>
          <p:nvPr/>
        </p:nvSpPr>
        <p:spPr>
          <a:xfrm>
            <a:off x="6217920" y="4023360"/>
            <a:ext cx="5212080" cy="2103120"/>
          </a:xfrm>
          <a:prstGeom prst="roundRect">
            <a:avLst/>
          </a:prstGeom>
          <a:solidFill>
            <a:srgbClr val="132238"/>
          </a:solidFill>
          <a:ln w="12700">
            <a:solidFill>
              <a:srgbClr val="283D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4160520"/>
            <a:ext cx="4846320" cy="1828800"/>
          </a:xfrm>
          <a:prstGeom prst="rect">
            <a:avLst/>
          </a:prstGeom>
          <a:noFill/>
        </p:spPr>
        <p:txBody>
          <a:bodyPr wrap="square">
            <a:spAutoFit/>
          </a:bodyPr>
          <a:lstStyle/>
          <a:p>
            <a:pPr>
              <a:defRPr sz="1300" b="1">
                <a:solidFill>
                  <a:srgbClr val="C5A880"/>
                </a:solidFill>
                <a:latin typeface="Arial"/>
              </a:defRPr>
            </a:pPr>
            <a:r>
              <a:t>4. Operations Intelligence</a:t>
            </a:r>
          </a:p>
          <a:p>
            <a:pPr>
              <a:spcBef>
                <a:spcPts val="400"/>
              </a:spcBef>
              <a:defRPr sz="1150">
                <a:solidFill>
                  <a:srgbClr val="94A3B8"/>
                </a:solidFill>
                <a:latin typeface="Calibri"/>
              </a:defRPr>
            </a:pPr>
            <a:r>
              <a:t>• Executive Gross Sales &amp; Order KPI cards</a:t>
            </a:r>
            <a:br/>
            <a:r>
              <a:t>• Automated low-stock warning triggers (&lt;5 units)</a:t>
            </a:r>
            <a:br/>
            <a:r>
              <a:t>• Complete garment CRUD inventory management</a:t>
            </a:r>
            <a:br/>
            <a:r>
              <a:t>• One-click order fulfillment controls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7315200" cy="365760"/>
          </a:xfrm>
          <a:prstGeom prst="rect">
            <a:avLst/>
          </a:prstGeom>
          <a:noFill/>
        </p:spPr>
        <p:txBody>
          <a:bodyPr wrap="square">
            <a:spAutoFit/>
          </a:bodyPr>
          <a:lstStyle/>
          <a:p>
            <a:pPr>
              <a:defRPr sz="1000" b="1">
                <a:solidFill>
                  <a:srgbClr val="C5A880"/>
                </a:solidFill>
                <a:latin typeface="Arial"/>
              </a:defRPr>
            </a:pPr>
            <a:r>
              <a:t>SLIDE 4 • SOFTWARE ENGINEERING</a:t>
            </a:r>
          </a:p>
        </p:txBody>
      </p:sp>
      <p:sp>
        <p:nvSpPr>
          <p:cNvPr id="4" name="TextBox 3"/>
          <p:cNvSpPr txBox="1"/>
          <p:nvPr/>
        </p:nvSpPr>
        <p:spPr>
          <a:xfrm>
            <a:off x="9601200" y="365760"/>
            <a:ext cx="1828800" cy="320040"/>
          </a:xfrm>
          <a:prstGeom prst="rect">
            <a:avLst/>
          </a:prstGeom>
          <a:noFill/>
        </p:spPr>
        <p:txBody>
          <a:bodyPr wrap="none">
            <a:spAutoFit/>
          </a:bodyPr>
          <a:lstStyle/>
          <a:p>
            <a:pPr algn="r">
              <a:defRPr sz="1100" b="1">
                <a:solidFill>
                  <a:srgbClr val="C5A880"/>
                </a:solidFill>
                <a:latin typeface="Arial"/>
              </a:defRPr>
            </a:pPr>
            <a:r>
              <a:t>⏱ 2:00 – 2:45</a:t>
            </a:r>
          </a:p>
        </p:txBody>
      </p:sp>
      <p:sp>
        <p:nvSpPr>
          <p:cNvPr id="5" name="TextBox 4"/>
          <p:cNvSpPr txBox="1"/>
          <p:nvPr/>
        </p:nvSpPr>
        <p:spPr>
          <a:xfrm>
            <a:off x="731520" y="731520"/>
            <a:ext cx="10698480" cy="731520"/>
          </a:xfrm>
          <a:prstGeom prst="rect">
            <a:avLst/>
          </a:prstGeom>
          <a:noFill/>
        </p:spPr>
        <p:txBody>
          <a:bodyPr wrap="square">
            <a:spAutoFit/>
          </a:bodyPr>
          <a:lstStyle/>
          <a:p>
            <a:pPr>
              <a:defRPr sz="2200" b="1">
                <a:solidFill>
                  <a:srgbClr val="FFFFFF"/>
                </a:solidFill>
                <a:latin typeface="Georgia"/>
              </a:defRPr>
            </a:pPr>
            <a:r>
              <a:t>3-Tier Enterprise Architectural Pattern</a:t>
            </a:r>
          </a:p>
        </p:txBody>
      </p:sp>
      <p:sp>
        <p:nvSpPr>
          <p:cNvPr id="6" name="Rectangle 5"/>
          <p:cNvSpPr/>
          <p:nvPr/>
        </p:nvSpPr>
        <p:spPr>
          <a:xfrm>
            <a:off x="731520" y="1508760"/>
            <a:ext cx="10728655" cy="18288"/>
          </a:xfrm>
          <a:prstGeom prst="rect">
            <a:avLst/>
          </a:prstGeom>
          <a:solidFill>
            <a:srgbClr val="283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737360"/>
            <a:ext cx="3383280" cy="4389120"/>
          </a:xfrm>
          <a:prstGeom prst="roundRect">
            <a:avLst/>
          </a:prstGeom>
          <a:solidFill>
            <a:srgbClr val="132238"/>
          </a:solidFill>
          <a:ln w="12700">
            <a:solidFill>
              <a:srgbClr val="C5A8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920240"/>
            <a:ext cx="3017520" cy="4023360"/>
          </a:xfrm>
          <a:prstGeom prst="rect">
            <a:avLst/>
          </a:prstGeom>
          <a:noFill/>
        </p:spPr>
        <p:txBody>
          <a:bodyPr wrap="square">
            <a:spAutoFit/>
          </a:bodyPr>
          <a:lstStyle/>
          <a:p>
            <a:pPr>
              <a:defRPr sz="1150" b="1">
                <a:solidFill>
                  <a:srgbClr val="C5A880"/>
                </a:solidFill>
                <a:latin typeface="Arial"/>
              </a:defRPr>
            </a:pPr>
            <a:r>
              <a:t>TIER 1: PRESENTATION (CLIENT)</a:t>
            </a:r>
          </a:p>
          <a:p>
            <a:pPr>
              <a:spcBef>
                <a:spcPts val="1000"/>
              </a:spcBef>
              <a:defRPr sz="1200">
                <a:solidFill>
                  <a:srgbClr val="94A3B8"/>
                </a:solidFill>
                <a:latin typeface="Calibri"/>
              </a:defRPr>
            </a:pPr>
            <a:r>
              <a:t>Semantic HTML5 &amp; Vanilla JavaScript</a:t>
            </a:r>
            <a:br/>
            <a:r>
              <a:t>Custom CSS3 Luxury Design System</a:t>
            </a:r>
            <a:br/>
            <a:r>
              <a:t>Glassmorphism &amp; Responsive CSS Grid</a:t>
            </a:r>
            <a:br/>
            <a:r>
              <a:t>Sub-200ms First Contentful Paint (No heavy node bloat)</a:t>
            </a:r>
          </a:p>
        </p:txBody>
      </p:sp>
      <p:sp>
        <p:nvSpPr>
          <p:cNvPr id="9" name="Rounded Rectangle 8"/>
          <p:cNvSpPr/>
          <p:nvPr/>
        </p:nvSpPr>
        <p:spPr>
          <a:xfrm>
            <a:off x="4389120" y="1737360"/>
            <a:ext cx="3383280" cy="4389120"/>
          </a:xfrm>
          <a:prstGeom prst="roundRect">
            <a:avLst/>
          </a:prstGeom>
          <a:solidFill>
            <a:srgbClr val="132238"/>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1920240"/>
            <a:ext cx="3017520" cy="4023360"/>
          </a:xfrm>
          <a:prstGeom prst="rect">
            <a:avLst/>
          </a:prstGeom>
          <a:noFill/>
        </p:spPr>
        <p:txBody>
          <a:bodyPr wrap="square">
            <a:spAutoFit/>
          </a:bodyPr>
          <a:lstStyle/>
          <a:p>
            <a:pPr>
              <a:defRPr sz="1150" b="1">
                <a:solidFill>
                  <a:srgbClr val="FFFFFF"/>
                </a:solidFill>
                <a:latin typeface="Arial"/>
              </a:defRPr>
            </a:pPr>
            <a:r>
              <a:t>TIER 2: APPLICATION LOGIC (BACKEND)</a:t>
            </a:r>
          </a:p>
          <a:p>
            <a:pPr>
              <a:spcBef>
                <a:spcPts val="1000"/>
              </a:spcBef>
              <a:defRPr sz="1200">
                <a:solidFill>
                  <a:srgbClr val="94A3B8"/>
                </a:solidFill>
                <a:latin typeface="Calibri"/>
              </a:defRPr>
            </a:pPr>
            <a:r>
              <a:t>Native PHP 8.2 Runtime Engine</a:t>
            </a:r>
            <a:br/>
            <a:r>
              <a:t>Session Security &amp; CSRF Token Handlers</a:t>
            </a:r>
            <a:br/>
            <a:r>
              <a:t>Role-Based Access Control (Admin vs Patron)</a:t>
            </a:r>
            <a:br/>
            <a:r>
              <a:t>Algorithmic Cart &amp; Voucher Pricing Engine</a:t>
            </a:r>
          </a:p>
        </p:txBody>
      </p:sp>
      <p:sp>
        <p:nvSpPr>
          <p:cNvPr id="11" name="Rounded Rectangle 10"/>
          <p:cNvSpPr/>
          <p:nvPr/>
        </p:nvSpPr>
        <p:spPr>
          <a:xfrm>
            <a:off x="8046720" y="1737360"/>
            <a:ext cx="3383280" cy="4389120"/>
          </a:xfrm>
          <a:prstGeom prst="roundRect">
            <a:avLst/>
          </a:prstGeom>
          <a:solidFill>
            <a:srgbClr val="132238"/>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0" y="1920240"/>
            <a:ext cx="3017520" cy="4023360"/>
          </a:xfrm>
          <a:prstGeom prst="rect">
            <a:avLst/>
          </a:prstGeom>
          <a:noFill/>
        </p:spPr>
        <p:txBody>
          <a:bodyPr wrap="square">
            <a:spAutoFit/>
          </a:bodyPr>
          <a:lstStyle/>
          <a:p>
            <a:pPr>
              <a:defRPr sz="1150" b="1">
                <a:solidFill>
                  <a:srgbClr val="10B981"/>
                </a:solidFill>
                <a:latin typeface="Arial"/>
              </a:defRPr>
            </a:pPr>
            <a:r>
              <a:t>TIER 3: DATA PERSISTENCE (DATABASE)</a:t>
            </a:r>
          </a:p>
          <a:p>
            <a:pPr>
              <a:spcBef>
                <a:spcPts val="1000"/>
              </a:spcBef>
              <a:defRPr sz="1200">
                <a:solidFill>
                  <a:srgbClr val="94A3B8"/>
                </a:solidFill>
                <a:latin typeface="Calibri"/>
              </a:defRPr>
            </a:pPr>
            <a:r>
              <a:t>Dual-Driver PDO Relational Layer</a:t>
            </a:r>
            <a:br/>
            <a:r>
              <a:t>Primary: MySQL / MariaDB (XAMPP Port 3306)</a:t>
            </a:r>
            <a:br/>
            <a:r>
              <a:t>Fallback: Zero-Config Embedded SQLite</a:t>
            </a:r>
            <a:br/>
            <a:r>
              <a:t>Automated Self-Migration &amp; Data Seeding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7315200" cy="365760"/>
          </a:xfrm>
          <a:prstGeom prst="rect">
            <a:avLst/>
          </a:prstGeom>
          <a:noFill/>
        </p:spPr>
        <p:txBody>
          <a:bodyPr wrap="square">
            <a:spAutoFit/>
          </a:bodyPr>
          <a:lstStyle/>
          <a:p>
            <a:pPr>
              <a:defRPr sz="1000" b="1">
                <a:solidFill>
                  <a:srgbClr val="C5A880"/>
                </a:solidFill>
                <a:latin typeface="Arial"/>
              </a:defRPr>
            </a:pPr>
            <a:r>
              <a:t>SLIDE 5 • DATA &amp; SECURITY</a:t>
            </a:r>
          </a:p>
        </p:txBody>
      </p:sp>
      <p:sp>
        <p:nvSpPr>
          <p:cNvPr id="4" name="TextBox 3"/>
          <p:cNvSpPr txBox="1"/>
          <p:nvPr/>
        </p:nvSpPr>
        <p:spPr>
          <a:xfrm>
            <a:off x="9601200" y="365760"/>
            <a:ext cx="1828800" cy="320040"/>
          </a:xfrm>
          <a:prstGeom prst="rect">
            <a:avLst/>
          </a:prstGeom>
          <a:noFill/>
        </p:spPr>
        <p:txBody>
          <a:bodyPr wrap="none">
            <a:spAutoFit/>
          </a:bodyPr>
          <a:lstStyle/>
          <a:p>
            <a:pPr algn="r">
              <a:defRPr sz="1100" b="1">
                <a:solidFill>
                  <a:srgbClr val="C5A880"/>
                </a:solidFill>
                <a:latin typeface="Arial"/>
              </a:defRPr>
            </a:pPr>
            <a:r>
              <a:t>⏱ 2:45 – 3:30</a:t>
            </a:r>
          </a:p>
        </p:txBody>
      </p:sp>
      <p:sp>
        <p:nvSpPr>
          <p:cNvPr id="5" name="TextBox 4"/>
          <p:cNvSpPr txBox="1"/>
          <p:nvPr/>
        </p:nvSpPr>
        <p:spPr>
          <a:xfrm>
            <a:off x="731520" y="731520"/>
            <a:ext cx="10698480" cy="731520"/>
          </a:xfrm>
          <a:prstGeom prst="rect">
            <a:avLst/>
          </a:prstGeom>
          <a:noFill/>
        </p:spPr>
        <p:txBody>
          <a:bodyPr wrap="square">
            <a:spAutoFit/>
          </a:bodyPr>
          <a:lstStyle/>
          <a:p>
            <a:pPr>
              <a:defRPr sz="2200" b="1">
                <a:solidFill>
                  <a:srgbClr val="FFFFFF"/>
                </a:solidFill>
                <a:latin typeface="Georgia"/>
              </a:defRPr>
            </a:pPr>
            <a:r>
              <a:t>Normalized Relational Data Model &amp; Cybersecurity</a:t>
            </a:r>
          </a:p>
        </p:txBody>
      </p:sp>
      <p:sp>
        <p:nvSpPr>
          <p:cNvPr id="6" name="Rectangle 5"/>
          <p:cNvSpPr/>
          <p:nvPr/>
        </p:nvSpPr>
        <p:spPr>
          <a:xfrm>
            <a:off x="731520" y="1508760"/>
            <a:ext cx="10728655" cy="18288"/>
          </a:xfrm>
          <a:prstGeom prst="rect">
            <a:avLst/>
          </a:prstGeom>
          <a:solidFill>
            <a:srgbClr val="283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737360"/>
            <a:ext cx="5212080" cy="4389120"/>
          </a:xfrm>
          <a:prstGeom prst="roundRect">
            <a:avLst/>
          </a:prstGeom>
          <a:solidFill>
            <a:srgbClr val="132238"/>
          </a:solidFill>
          <a:ln w="12700">
            <a:solidFill>
              <a:srgbClr val="283D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4846320" cy="4114800"/>
          </a:xfrm>
          <a:prstGeom prst="rect">
            <a:avLst/>
          </a:prstGeom>
          <a:noFill/>
        </p:spPr>
        <p:txBody>
          <a:bodyPr wrap="square">
            <a:spAutoFit/>
          </a:bodyPr>
          <a:lstStyle/>
          <a:p>
            <a:pPr>
              <a:defRPr sz="1200" b="1">
                <a:solidFill>
                  <a:srgbClr val="C5A880"/>
                </a:solidFill>
                <a:latin typeface="Arial"/>
              </a:defRPr>
            </a:pPr>
            <a:r>
              <a:t>7 NORMALIZED RELATIONAL TABLES (3NF)</a:t>
            </a:r>
          </a:p>
          <a:p>
            <a:pPr>
              <a:spcBef>
                <a:spcPts val="400"/>
              </a:spcBef>
              <a:defRPr sz="1100">
                <a:solidFill>
                  <a:srgbClr val="94A3B8"/>
                </a:solidFill>
                <a:latin typeface="Calibri"/>
              </a:defRPr>
            </a:pPr>
            <a:r>
              <a:t>• users: Customer &amp; admin profiles with BCrypt hashed passwords.</a:t>
            </a:r>
          </a:p>
          <a:p>
            <a:pPr>
              <a:spcBef>
                <a:spcPts val="400"/>
              </a:spcBef>
              <a:defRPr sz="1100">
                <a:solidFill>
                  <a:srgbClr val="94A3B8"/>
                </a:solidFill>
                <a:latin typeface="Calibri"/>
              </a:defRPr>
            </a:pPr>
            <a:r>
              <a:t>• categories: Slugs, lookbook banners, and department filters.</a:t>
            </a:r>
          </a:p>
          <a:p>
            <a:pPr>
              <a:spcBef>
                <a:spcPts val="400"/>
              </a:spcBef>
              <a:defRPr sz="1100">
                <a:solidFill>
                  <a:srgbClr val="94A3B8"/>
                </a:solidFill>
                <a:latin typeface="Calibri"/>
              </a:defRPr>
            </a:pPr>
            <a:r>
              <a:t>• products: Garment catalog, pricing, SKUs, and inventory stock counters.</a:t>
            </a:r>
          </a:p>
          <a:p>
            <a:pPr>
              <a:spcBef>
                <a:spcPts val="400"/>
              </a:spcBef>
              <a:defRPr sz="1100">
                <a:solidFill>
                  <a:srgbClr val="94A3B8"/>
                </a:solidFill>
                <a:latin typeface="Calibri"/>
              </a:defRPr>
            </a:pPr>
            <a:r>
              <a:t>• orders: Header table tracking status, totals, and shipping details.</a:t>
            </a:r>
          </a:p>
          <a:p>
            <a:pPr>
              <a:spcBef>
                <a:spcPts val="400"/>
              </a:spcBef>
              <a:defRPr sz="1100">
                <a:solidFill>
                  <a:srgbClr val="94A3B8"/>
                </a:solidFill>
                <a:latin typeface="Calibri"/>
              </a:defRPr>
            </a:pPr>
            <a:r>
              <a:t>• order_items: Normalized line items preserving historic purchase prices.</a:t>
            </a:r>
          </a:p>
          <a:p>
            <a:pPr>
              <a:spcBef>
                <a:spcPts val="400"/>
              </a:spcBef>
              <a:defRPr sz="1100">
                <a:solidFill>
                  <a:srgbClr val="94A3B8"/>
                </a:solidFill>
                <a:latin typeface="Calibri"/>
              </a:defRPr>
            </a:pPr>
            <a:r>
              <a:t>• coupons: Rules engine for percentage (SEN803) &amp; fixed discounts.</a:t>
            </a:r>
          </a:p>
          <a:p>
            <a:pPr>
              <a:spcBef>
                <a:spcPts val="400"/>
              </a:spcBef>
              <a:defRPr sz="1100">
                <a:solidFill>
                  <a:srgbClr val="94A3B8"/>
                </a:solidFill>
                <a:latin typeface="Calibri"/>
              </a:defRPr>
            </a:pPr>
            <a:r>
              <a:t>• reviews: 5-star customer ratings and verified fitting feedback.</a:t>
            </a:r>
          </a:p>
        </p:txBody>
      </p:sp>
      <p:sp>
        <p:nvSpPr>
          <p:cNvPr id="9" name="Rounded Rectangle 8"/>
          <p:cNvSpPr/>
          <p:nvPr/>
        </p:nvSpPr>
        <p:spPr>
          <a:xfrm>
            <a:off x="6217920" y="1737360"/>
            <a:ext cx="5212080" cy="4389120"/>
          </a:xfrm>
          <a:prstGeom prst="roundRect">
            <a:avLst/>
          </a:prstGeom>
          <a:solidFill>
            <a:srgbClr val="132238"/>
          </a:solidFill>
          <a:ln w="12700">
            <a:solidFill>
              <a:srgbClr val="283D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828800"/>
            <a:ext cx="4846320" cy="4114800"/>
          </a:xfrm>
          <a:prstGeom prst="rect">
            <a:avLst/>
          </a:prstGeom>
          <a:noFill/>
        </p:spPr>
        <p:txBody>
          <a:bodyPr wrap="square">
            <a:spAutoFit/>
          </a:bodyPr>
          <a:lstStyle/>
          <a:p>
            <a:pPr>
              <a:defRPr sz="1200" b="1">
                <a:solidFill>
                  <a:srgbClr val="10B981"/>
                </a:solidFill>
                <a:latin typeface="Arial"/>
              </a:defRPr>
            </a:pPr>
            <a:r>
              <a:t>CYBERSECURITY &amp; DEFENSE MECHANISMS</a:t>
            </a:r>
          </a:p>
          <a:p>
            <a:pPr>
              <a:spcBef>
                <a:spcPts val="600"/>
              </a:spcBef>
              <a:defRPr sz="1150">
                <a:solidFill>
                  <a:srgbClr val="FFFFFF"/>
                </a:solidFill>
                <a:latin typeface="Calibri"/>
              </a:defRPr>
            </a:pPr>
            <a:r>
              <a:t>🔒 100% Prepared PDO Statements: Parameterized queries eliminating SQL Injection entirely.</a:t>
            </a:r>
          </a:p>
          <a:p>
            <a:pPr>
              <a:spcBef>
                <a:spcPts val="600"/>
              </a:spcBef>
              <a:defRPr sz="1150">
                <a:solidFill>
                  <a:srgbClr val="FFFFFF"/>
                </a:solidFill>
                <a:latin typeface="Calibri"/>
              </a:defRPr>
            </a:pPr>
            <a:r>
              <a:t>🔒 BCrypt Credential Hashing: PASSWORD_BCRYPT encryption preventing password reversal.</a:t>
            </a:r>
          </a:p>
          <a:p>
            <a:pPr>
              <a:spcBef>
                <a:spcPts val="600"/>
              </a:spcBef>
              <a:defRPr sz="1150">
                <a:solidFill>
                  <a:srgbClr val="FFFFFF"/>
                </a:solidFill>
                <a:latin typeface="Calibri"/>
              </a:defRPr>
            </a:pPr>
            <a:r>
              <a:t>🔒 Role-Based Access Control (RBAC): Strict requireAdmin() guard on all /admin/* endpoints.</a:t>
            </a:r>
          </a:p>
          <a:p>
            <a:pPr>
              <a:spcBef>
                <a:spcPts val="600"/>
              </a:spcBef>
              <a:defRPr sz="1150">
                <a:solidFill>
                  <a:srgbClr val="FFFFFF"/>
                </a:solidFill>
                <a:latin typeface="Calibri"/>
              </a:defRPr>
            </a:pPr>
            <a:r>
              <a:t>🔒 Cross-Site Request Forgery (CSRF): Cryptographic tokens required on state-modifying actions.</a:t>
            </a:r>
          </a:p>
          <a:p>
            <a:pPr>
              <a:spcBef>
                <a:spcPts val="600"/>
              </a:spcBef>
              <a:defRPr sz="1150">
                <a:solidFill>
                  <a:srgbClr val="FFFFFF"/>
                </a:solidFill>
                <a:latin typeface="Calibri"/>
              </a:defRPr>
            </a:pPr>
            <a:r>
              <a:t>🔒 XSS Mitigation: htmlspecialchars(..., ENT_QUOTES, 'UTF-8') on all browser outputs.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7315200" cy="365760"/>
          </a:xfrm>
          <a:prstGeom prst="rect">
            <a:avLst/>
          </a:prstGeom>
          <a:noFill/>
        </p:spPr>
        <p:txBody>
          <a:bodyPr wrap="square">
            <a:spAutoFit/>
          </a:bodyPr>
          <a:lstStyle/>
          <a:p>
            <a:pPr>
              <a:defRPr sz="1000" b="1">
                <a:solidFill>
                  <a:srgbClr val="C5A880"/>
                </a:solidFill>
                <a:latin typeface="Arial"/>
              </a:defRPr>
            </a:pPr>
            <a:r>
              <a:t>SLIDE 6 • LIVE DEMONSTRATION SETUP</a:t>
            </a:r>
          </a:p>
        </p:txBody>
      </p:sp>
      <p:sp>
        <p:nvSpPr>
          <p:cNvPr id="4" name="TextBox 3"/>
          <p:cNvSpPr txBox="1"/>
          <p:nvPr/>
        </p:nvSpPr>
        <p:spPr>
          <a:xfrm>
            <a:off x="9601200" y="365760"/>
            <a:ext cx="1828800" cy="320040"/>
          </a:xfrm>
          <a:prstGeom prst="rect">
            <a:avLst/>
          </a:prstGeom>
          <a:noFill/>
        </p:spPr>
        <p:txBody>
          <a:bodyPr wrap="none">
            <a:spAutoFit/>
          </a:bodyPr>
          <a:lstStyle/>
          <a:p>
            <a:pPr algn="r">
              <a:defRPr sz="1100" b="1">
                <a:solidFill>
                  <a:srgbClr val="C5A880"/>
                </a:solidFill>
                <a:latin typeface="Arial"/>
              </a:defRPr>
            </a:pPr>
            <a:r>
              <a:t>⏱ 3:30 – 4:30</a:t>
            </a:r>
          </a:p>
        </p:txBody>
      </p:sp>
      <p:sp>
        <p:nvSpPr>
          <p:cNvPr id="5" name="TextBox 4"/>
          <p:cNvSpPr txBox="1"/>
          <p:nvPr/>
        </p:nvSpPr>
        <p:spPr>
          <a:xfrm>
            <a:off x="731520" y="731520"/>
            <a:ext cx="10698480" cy="731520"/>
          </a:xfrm>
          <a:prstGeom prst="rect">
            <a:avLst/>
          </a:prstGeom>
          <a:noFill/>
        </p:spPr>
        <p:txBody>
          <a:bodyPr wrap="square">
            <a:spAutoFit/>
          </a:bodyPr>
          <a:lstStyle/>
          <a:p>
            <a:pPr>
              <a:defRPr sz="2200" b="1">
                <a:solidFill>
                  <a:srgbClr val="FFFFFF"/>
                </a:solidFill>
                <a:latin typeface="Georgia"/>
              </a:defRPr>
            </a:pPr>
            <a:r>
              <a:t>Transition to Live Prototype Demonstration</a:t>
            </a:r>
          </a:p>
        </p:txBody>
      </p:sp>
      <p:sp>
        <p:nvSpPr>
          <p:cNvPr id="6" name="Rectangle 5"/>
          <p:cNvSpPr/>
          <p:nvPr/>
        </p:nvSpPr>
        <p:spPr>
          <a:xfrm>
            <a:off x="731520" y="1508760"/>
            <a:ext cx="10728655" cy="18288"/>
          </a:xfrm>
          <a:prstGeom prst="rect">
            <a:avLst/>
          </a:prstGeom>
          <a:solidFill>
            <a:srgbClr val="283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97280" y="1737360"/>
            <a:ext cx="9966960" cy="4389120"/>
          </a:xfrm>
          <a:prstGeom prst="roundRect">
            <a:avLst/>
          </a:prstGeom>
          <a:solidFill>
            <a:srgbClr val="132238"/>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1920240"/>
            <a:ext cx="9418320" cy="4023360"/>
          </a:xfrm>
          <a:prstGeom prst="rect">
            <a:avLst/>
          </a:prstGeom>
          <a:noFill/>
        </p:spPr>
        <p:txBody>
          <a:bodyPr wrap="square">
            <a:spAutoFit/>
          </a:bodyPr>
          <a:lstStyle/>
          <a:p>
            <a:pPr>
              <a:defRPr sz="1400" b="1">
                <a:solidFill>
                  <a:srgbClr val="10B981"/>
                </a:solidFill>
                <a:latin typeface="Arial"/>
              </a:defRPr>
            </a:pPr>
            <a:r>
              <a:t>🟢 LOCAL SERVER STATUS: PUBLISHED &amp; ONLINE</a:t>
            </a:r>
          </a:p>
          <a:p>
            <a:pPr>
              <a:spcBef>
                <a:spcPts val="600"/>
              </a:spcBef>
              <a:defRPr sz="1300" b="1">
                <a:solidFill>
                  <a:srgbClr val="C5A880"/>
                </a:solidFill>
                <a:latin typeface="Calibri"/>
              </a:defRPr>
            </a:pPr>
            <a:r>
              <a:t>Server URL: http://localhost:8000/   |   Admin Console: http://localhost:8000/admin/index.php</a:t>
            </a:r>
          </a:p>
          <a:p>
            <a:pPr>
              <a:spcBef>
                <a:spcPts val="800"/>
              </a:spcBef>
              <a:defRPr sz="1200">
                <a:solidFill>
                  <a:srgbClr val="FFFFFF"/>
                </a:solidFill>
                <a:latin typeface="Calibri"/>
              </a:defRPr>
            </a:pPr>
            <a:r>
              <a:t>▶ 1. Storefront Retailing: Interactive luxury catalog, faceted filtering, and live stock scarcity counters.</a:t>
            </a:r>
          </a:p>
          <a:p>
            <a:pPr>
              <a:spcBef>
                <a:spcPts val="800"/>
              </a:spcBef>
              <a:defRPr sz="1200">
                <a:solidFill>
                  <a:srgbClr val="FFFFFF"/>
                </a:solidFill>
                <a:latin typeface="Calibri"/>
              </a:defRPr>
            </a:pPr>
            <a:r>
              <a:t>▶ 2. Dynamic Cart &amp; Voucher Engine: Input SEN803 -&gt; Observe automatic 20% discount recalculation.</a:t>
            </a:r>
          </a:p>
          <a:p>
            <a:pPr>
              <a:spcBef>
                <a:spcPts val="800"/>
              </a:spcBef>
              <a:defRPr sz="1200">
                <a:solidFill>
                  <a:srgbClr val="FFFFFF"/>
                </a:solidFill>
                <a:latin typeface="Calibri"/>
              </a:defRPr>
            </a:pPr>
            <a:r>
              <a:t>▶ 3. Multi-Method Checkout: Simulated payment processing across Card, Mobile Money, and Bank Transfer.</a:t>
            </a:r>
          </a:p>
          <a:p>
            <a:pPr>
              <a:spcBef>
                <a:spcPts val="800"/>
              </a:spcBef>
              <a:defRPr sz="1200">
                <a:solidFill>
                  <a:srgbClr val="FFFFFF"/>
                </a:solidFill>
                <a:latin typeface="Calibri"/>
              </a:defRPr>
            </a:pPr>
            <a:r>
              <a:t>▶ 4. 4-Stage Logistics Tracker: Visual delivery pipeline (Order Placed -&gt; Boxing -&gt; Dispatched -&gt; Delivered).</a:t>
            </a:r>
          </a:p>
          <a:p>
            <a:pPr>
              <a:spcBef>
                <a:spcPts val="800"/>
              </a:spcBef>
              <a:defRPr sz="1200">
                <a:solidFill>
                  <a:srgbClr val="FFFFFF"/>
                </a:solidFill>
                <a:latin typeface="Calibri"/>
              </a:defRPr>
            </a:pPr>
            <a:r>
              <a:t>▶ 5. Operations Back-Office: Executive KPI gross revenue dashboard, low-stock warnings, and inventory CRUD.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7315200" cy="365760"/>
          </a:xfrm>
          <a:prstGeom prst="rect">
            <a:avLst/>
          </a:prstGeom>
          <a:noFill/>
        </p:spPr>
        <p:txBody>
          <a:bodyPr wrap="square">
            <a:spAutoFit/>
          </a:bodyPr>
          <a:lstStyle/>
          <a:p>
            <a:pPr>
              <a:defRPr sz="1000" b="1">
                <a:solidFill>
                  <a:srgbClr val="C5A880"/>
                </a:solidFill>
                <a:latin typeface="Arial"/>
              </a:defRPr>
            </a:pPr>
            <a:r>
              <a:t>SLIDE 7 • LIVE WALKTHROUGH GUIDE</a:t>
            </a:r>
          </a:p>
        </p:txBody>
      </p:sp>
      <p:sp>
        <p:nvSpPr>
          <p:cNvPr id="4" name="TextBox 3"/>
          <p:cNvSpPr txBox="1"/>
          <p:nvPr/>
        </p:nvSpPr>
        <p:spPr>
          <a:xfrm>
            <a:off x="9601200" y="365760"/>
            <a:ext cx="1828800" cy="320040"/>
          </a:xfrm>
          <a:prstGeom prst="rect">
            <a:avLst/>
          </a:prstGeom>
          <a:noFill/>
        </p:spPr>
        <p:txBody>
          <a:bodyPr wrap="none">
            <a:spAutoFit/>
          </a:bodyPr>
          <a:lstStyle/>
          <a:p>
            <a:pPr algn="r">
              <a:defRPr sz="1100" b="1">
                <a:solidFill>
                  <a:srgbClr val="C5A880"/>
                </a:solidFill>
                <a:latin typeface="Arial"/>
              </a:defRPr>
            </a:pPr>
            <a:r>
              <a:t>⏱ 4:30 – 7:30</a:t>
            </a:r>
          </a:p>
        </p:txBody>
      </p:sp>
      <p:sp>
        <p:nvSpPr>
          <p:cNvPr id="5" name="TextBox 4"/>
          <p:cNvSpPr txBox="1"/>
          <p:nvPr/>
        </p:nvSpPr>
        <p:spPr>
          <a:xfrm>
            <a:off x="731520" y="731520"/>
            <a:ext cx="10698480" cy="731520"/>
          </a:xfrm>
          <a:prstGeom prst="rect">
            <a:avLst/>
          </a:prstGeom>
          <a:noFill/>
        </p:spPr>
        <p:txBody>
          <a:bodyPr wrap="square">
            <a:spAutoFit/>
          </a:bodyPr>
          <a:lstStyle/>
          <a:p>
            <a:pPr>
              <a:defRPr sz="2200" b="1">
                <a:solidFill>
                  <a:srgbClr val="FFFFFF"/>
                </a:solidFill>
                <a:latin typeface="Georgia"/>
              </a:defRPr>
            </a:pPr>
            <a:r>
              <a:t>Live Prototype Demonstration: Step-by-Step Flow</a:t>
            </a:r>
          </a:p>
        </p:txBody>
      </p:sp>
      <p:sp>
        <p:nvSpPr>
          <p:cNvPr id="6" name="Rectangle 5"/>
          <p:cNvSpPr/>
          <p:nvPr/>
        </p:nvSpPr>
        <p:spPr>
          <a:xfrm>
            <a:off x="731520" y="1508760"/>
            <a:ext cx="10728655" cy="18288"/>
          </a:xfrm>
          <a:prstGeom prst="rect">
            <a:avLst/>
          </a:prstGeom>
          <a:solidFill>
            <a:srgbClr val="283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737360"/>
            <a:ext cx="5212080" cy="1280160"/>
          </a:xfrm>
          <a:prstGeom prst="roundRect">
            <a:avLst/>
          </a:prstGeom>
          <a:solidFill>
            <a:srgbClr val="132238"/>
          </a:solidFill>
          <a:ln w="12700">
            <a:solidFill>
              <a:srgbClr val="283D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4846320" cy="1097280"/>
          </a:xfrm>
          <a:prstGeom prst="rect">
            <a:avLst/>
          </a:prstGeom>
          <a:noFill/>
        </p:spPr>
        <p:txBody>
          <a:bodyPr wrap="none">
            <a:spAutoFit/>
          </a:bodyPr>
          <a:lstStyle/>
          <a:p>
            <a:pPr>
              <a:defRPr sz="1200" b="1">
                <a:solidFill>
                  <a:srgbClr val="C5A880"/>
                </a:solidFill>
                <a:latin typeface="Arial"/>
              </a:defRPr>
            </a:pPr>
            <a:r>
              <a:t>Step 1: Browse Storefront</a:t>
            </a:r>
          </a:p>
          <a:p>
            <a:pPr>
              <a:defRPr sz="1050">
                <a:solidFill>
                  <a:srgbClr val="94A3B8"/>
                </a:solidFill>
                <a:latin typeface="Calibri"/>
              </a:defRPr>
            </a:pPr>
            <a:r>
              <a:t>Open http://localhost:8000/ -&gt; Highlight luxury editorial light theme, hero capsules, and categories.</a:t>
            </a:r>
          </a:p>
        </p:txBody>
      </p:sp>
      <p:sp>
        <p:nvSpPr>
          <p:cNvPr id="9" name="Rounded Rectangle 8"/>
          <p:cNvSpPr/>
          <p:nvPr/>
        </p:nvSpPr>
        <p:spPr>
          <a:xfrm>
            <a:off x="731520" y="3200400"/>
            <a:ext cx="5212080" cy="1280160"/>
          </a:xfrm>
          <a:prstGeom prst="roundRect">
            <a:avLst/>
          </a:prstGeom>
          <a:solidFill>
            <a:srgbClr val="132238"/>
          </a:solidFill>
          <a:ln w="12700">
            <a:solidFill>
              <a:srgbClr val="283D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291840"/>
            <a:ext cx="4846320" cy="1097280"/>
          </a:xfrm>
          <a:prstGeom prst="rect">
            <a:avLst/>
          </a:prstGeom>
          <a:noFill/>
        </p:spPr>
        <p:txBody>
          <a:bodyPr wrap="none">
            <a:spAutoFit/>
          </a:bodyPr>
          <a:lstStyle/>
          <a:p>
            <a:pPr>
              <a:defRPr sz="1200" b="1">
                <a:solidFill>
                  <a:srgbClr val="C5A880"/>
                </a:solidFill>
                <a:latin typeface="Arial"/>
              </a:defRPr>
            </a:pPr>
            <a:r>
              <a:t>Step 2: Faceted Filtering</a:t>
            </a:r>
          </a:p>
          <a:p>
            <a:pPr>
              <a:defRPr sz="1050">
                <a:solidFill>
                  <a:srgbClr val="94A3B8"/>
                </a:solidFill>
                <a:latin typeface="Calibri"/>
              </a:defRPr>
            </a:pPr>
            <a:r>
              <a:t>Navigate to /shop.php -&gt; Filter by 'Outerwear' and price range -&gt; Open 'The Savile Cashmere Overcoat'.</a:t>
            </a:r>
          </a:p>
        </p:txBody>
      </p:sp>
      <p:sp>
        <p:nvSpPr>
          <p:cNvPr id="11" name="Rounded Rectangle 10"/>
          <p:cNvSpPr/>
          <p:nvPr/>
        </p:nvSpPr>
        <p:spPr>
          <a:xfrm>
            <a:off x="731520" y="4663440"/>
            <a:ext cx="5212080" cy="1280160"/>
          </a:xfrm>
          <a:prstGeom prst="roundRect">
            <a:avLst/>
          </a:prstGeom>
          <a:solidFill>
            <a:srgbClr val="132238"/>
          </a:solidFill>
          <a:ln w="12700">
            <a:solidFill>
              <a:srgbClr val="283D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754880"/>
            <a:ext cx="4846320" cy="1097280"/>
          </a:xfrm>
          <a:prstGeom prst="rect">
            <a:avLst/>
          </a:prstGeom>
          <a:noFill/>
        </p:spPr>
        <p:txBody>
          <a:bodyPr wrap="none">
            <a:spAutoFit/>
          </a:bodyPr>
          <a:lstStyle/>
          <a:p>
            <a:pPr>
              <a:defRPr sz="1200" b="1">
                <a:solidFill>
                  <a:srgbClr val="C5A880"/>
                </a:solidFill>
                <a:latin typeface="Arial"/>
              </a:defRPr>
            </a:pPr>
            <a:r>
              <a:t>Step 3: Garment Detail &amp; Stock Warning</a:t>
            </a:r>
          </a:p>
          <a:p>
            <a:pPr>
              <a:defRPr sz="1050">
                <a:solidFill>
                  <a:srgbClr val="94A3B8"/>
                </a:solidFill>
                <a:latin typeface="Calibri"/>
              </a:defRPr>
            </a:pPr>
            <a:r>
              <a:t>Highlight size pills, verified customer reviews, and live scarcity alert ('Only 4 units left!').</a:t>
            </a:r>
          </a:p>
        </p:txBody>
      </p:sp>
      <p:sp>
        <p:nvSpPr>
          <p:cNvPr id="13" name="Rounded Rectangle 12"/>
          <p:cNvSpPr/>
          <p:nvPr/>
        </p:nvSpPr>
        <p:spPr>
          <a:xfrm>
            <a:off x="6217920" y="1737360"/>
            <a:ext cx="5212080" cy="1280160"/>
          </a:xfrm>
          <a:prstGeom prst="roundRect">
            <a:avLst/>
          </a:prstGeom>
          <a:solidFill>
            <a:srgbClr val="132238"/>
          </a:solidFill>
          <a:ln w="12700">
            <a:solidFill>
              <a:srgbClr val="283D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1828800"/>
            <a:ext cx="4846320" cy="1097280"/>
          </a:xfrm>
          <a:prstGeom prst="rect">
            <a:avLst/>
          </a:prstGeom>
          <a:noFill/>
        </p:spPr>
        <p:txBody>
          <a:bodyPr wrap="none">
            <a:spAutoFit/>
          </a:bodyPr>
          <a:lstStyle/>
          <a:p>
            <a:pPr>
              <a:defRPr sz="1200" b="1">
                <a:solidFill>
                  <a:srgbClr val="10B981"/>
                </a:solidFill>
                <a:latin typeface="Arial"/>
              </a:defRPr>
            </a:pPr>
            <a:r>
              <a:t>Step 4: Bag &amp; Coupon Engine</a:t>
            </a:r>
          </a:p>
          <a:p>
            <a:pPr>
              <a:defRPr sz="1050">
                <a:solidFill>
                  <a:srgbClr val="FFFFFF"/>
                </a:solidFill>
                <a:latin typeface="Calibri"/>
              </a:defRPr>
            </a:pPr>
            <a:r>
              <a:t>Add to bag -&gt; Apply voucher 'SEN803' -&gt; Watch subtotal immediately drop by 20% (£96.00 off).</a:t>
            </a:r>
          </a:p>
        </p:txBody>
      </p:sp>
      <p:sp>
        <p:nvSpPr>
          <p:cNvPr id="15" name="Rounded Rectangle 14"/>
          <p:cNvSpPr/>
          <p:nvPr/>
        </p:nvSpPr>
        <p:spPr>
          <a:xfrm>
            <a:off x="6217920" y="3200400"/>
            <a:ext cx="5212080" cy="1280160"/>
          </a:xfrm>
          <a:prstGeom prst="roundRect">
            <a:avLst/>
          </a:prstGeom>
          <a:solidFill>
            <a:srgbClr val="132238"/>
          </a:solidFill>
          <a:ln w="12700">
            <a:solidFill>
              <a:srgbClr val="283D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3291840"/>
            <a:ext cx="4846320" cy="1097280"/>
          </a:xfrm>
          <a:prstGeom prst="rect">
            <a:avLst/>
          </a:prstGeom>
          <a:noFill/>
        </p:spPr>
        <p:txBody>
          <a:bodyPr wrap="none">
            <a:spAutoFit/>
          </a:bodyPr>
          <a:lstStyle/>
          <a:p>
            <a:pPr>
              <a:defRPr sz="1200" b="1">
                <a:solidFill>
                  <a:srgbClr val="10B981"/>
                </a:solidFill>
                <a:latin typeface="Arial"/>
              </a:defRPr>
            </a:pPr>
            <a:r>
              <a:t>Step 5: Checkout &amp; 4-Stage Tracking</a:t>
            </a:r>
          </a:p>
          <a:p>
            <a:pPr>
              <a:defRPr sz="1050">
                <a:solidFill>
                  <a:srgbClr val="FFFFFF"/>
                </a:solidFill>
                <a:latin typeface="Calibri"/>
              </a:defRPr>
            </a:pPr>
            <a:r>
              <a:t>Proceed to checkout -&gt; Select Card Simulation -&gt; View official invoice and 4-stage tracking timeline.</a:t>
            </a:r>
          </a:p>
        </p:txBody>
      </p:sp>
      <p:sp>
        <p:nvSpPr>
          <p:cNvPr id="17" name="Rounded Rectangle 16"/>
          <p:cNvSpPr/>
          <p:nvPr/>
        </p:nvSpPr>
        <p:spPr>
          <a:xfrm>
            <a:off x="6217920" y="4663440"/>
            <a:ext cx="5212080" cy="1280160"/>
          </a:xfrm>
          <a:prstGeom prst="roundRect">
            <a:avLst/>
          </a:prstGeom>
          <a:solidFill>
            <a:srgbClr val="132238"/>
          </a:solidFill>
          <a:ln w="12700">
            <a:solidFill>
              <a:srgbClr val="283D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4754880"/>
            <a:ext cx="4846320" cy="1097280"/>
          </a:xfrm>
          <a:prstGeom prst="rect">
            <a:avLst/>
          </a:prstGeom>
          <a:noFill/>
        </p:spPr>
        <p:txBody>
          <a:bodyPr wrap="none">
            <a:spAutoFit/>
          </a:bodyPr>
          <a:lstStyle/>
          <a:p>
            <a:pPr>
              <a:defRPr sz="1200" b="1">
                <a:solidFill>
                  <a:srgbClr val="10B981"/>
                </a:solidFill>
                <a:latin typeface="Arial"/>
              </a:defRPr>
            </a:pPr>
            <a:r>
              <a:t>Step 6: Admin Operations Console</a:t>
            </a:r>
          </a:p>
          <a:p>
            <a:pPr>
              <a:defRPr sz="1050">
                <a:solidFill>
                  <a:srgbClr val="FFFFFF"/>
                </a:solidFill>
                <a:latin typeface="Calibri"/>
              </a:defRPr>
            </a:pPr>
            <a:r>
              <a:t>Open /admin/index.php (admin@valenti.com) -&gt; Show live gross sales KPIs, low-stock alerts, and CRUD.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7315200" cy="365760"/>
          </a:xfrm>
          <a:prstGeom prst="rect">
            <a:avLst/>
          </a:prstGeom>
          <a:noFill/>
        </p:spPr>
        <p:txBody>
          <a:bodyPr wrap="square">
            <a:spAutoFit/>
          </a:bodyPr>
          <a:lstStyle/>
          <a:p>
            <a:pPr>
              <a:defRPr sz="1000" b="1">
                <a:solidFill>
                  <a:srgbClr val="C5A880"/>
                </a:solidFill>
                <a:latin typeface="Arial"/>
              </a:defRPr>
            </a:pPr>
            <a:r>
              <a:t>SLIDE 8 • FINANCIAL VIABILITY</a:t>
            </a:r>
          </a:p>
        </p:txBody>
      </p:sp>
      <p:sp>
        <p:nvSpPr>
          <p:cNvPr id="4" name="TextBox 3"/>
          <p:cNvSpPr txBox="1"/>
          <p:nvPr/>
        </p:nvSpPr>
        <p:spPr>
          <a:xfrm>
            <a:off x="9601200" y="365760"/>
            <a:ext cx="1828800" cy="320040"/>
          </a:xfrm>
          <a:prstGeom prst="rect">
            <a:avLst/>
          </a:prstGeom>
          <a:noFill/>
        </p:spPr>
        <p:txBody>
          <a:bodyPr wrap="none">
            <a:spAutoFit/>
          </a:bodyPr>
          <a:lstStyle/>
          <a:p>
            <a:pPr algn="r">
              <a:defRPr sz="1100" b="1">
                <a:solidFill>
                  <a:srgbClr val="C5A880"/>
                </a:solidFill>
                <a:latin typeface="Arial"/>
              </a:defRPr>
            </a:pPr>
            <a:r>
              <a:t>⏱ 7:30 – 8:15</a:t>
            </a:r>
          </a:p>
        </p:txBody>
      </p:sp>
      <p:sp>
        <p:nvSpPr>
          <p:cNvPr id="5" name="TextBox 4"/>
          <p:cNvSpPr txBox="1"/>
          <p:nvPr/>
        </p:nvSpPr>
        <p:spPr>
          <a:xfrm>
            <a:off x="731520" y="731520"/>
            <a:ext cx="10698480" cy="731520"/>
          </a:xfrm>
          <a:prstGeom prst="rect">
            <a:avLst/>
          </a:prstGeom>
          <a:noFill/>
        </p:spPr>
        <p:txBody>
          <a:bodyPr wrap="square">
            <a:spAutoFit/>
          </a:bodyPr>
          <a:lstStyle/>
          <a:p>
            <a:pPr>
              <a:defRPr sz="2200" b="1">
                <a:solidFill>
                  <a:srgbClr val="FFFFFF"/>
                </a:solidFill>
                <a:latin typeface="Georgia"/>
              </a:defRPr>
            </a:pPr>
            <a:r>
              <a:t>Financial Model, Pricing &amp; Unit Economics</a:t>
            </a:r>
          </a:p>
        </p:txBody>
      </p:sp>
      <p:sp>
        <p:nvSpPr>
          <p:cNvPr id="6" name="Rectangle 5"/>
          <p:cNvSpPr/>
          <p:nvPr/>
        </p:nvSpPr>
        <p:spPr>
          <a:xfrm>
            <a:off x="731520" y="1508760"/>
            <a:ext cx="10728655" cy="18288"/>
          </a:xfrm>
          <a:prstGeom prst="rect">
            <a:avLst/>
          </a:prstGeom>
          <a:solidFill>
            <a:srgbClr val="283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737360"/>
            <a:ext cx="5212080" cy="4389120"/>
          </a:xfrm>
          <a:prstGeom prst="roundRect">
            <a:avLst/>
          </a:prstGeom>
          <a:solidFill>
            <a:srgbClr val="132238"/>
          </a:solidFill>
          <a:ln w="12700">
            <a:solidFill>
              <a:srgbClr val="283D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4846320" cy="4114800"/>
          </a:xfrm>
          <a:prstGeom prst="rect">
            <a:avLst/>
          </a:prstGeom>
          <a:noFill/>
        </p:spPr>
        <p:txBody>
          <a:bodyPr wrap="square">
            <a:spAutoFit/>
          </a:bodyPr>
          <a:lstStyle/>
          <a:p>
            <a:pPr>
              <a:defRPr sz="1200" b="1">
                <a:solidFill>
                  <a:srgbClr val="C5A880"/>
                </a:solidFill>
                <a:latin typeface="Arial"/>
              </a:defRPr>
            </a:pPr>
            <a:r>
              <a:t>ACCESSIBLE LUXURY UNIT MARGINS</a:t>
            </a:r>
          </a:p>
          <a:p>
            <a:pPr>
              <a:spcBef>
                <a:spcPts val="600"/>
              </a:spcBef>
              <a:defRPr sz="1100">
                <a:solidFill>
                  <a:srgbClr val="94A3B8"/>
                </a:solidFill>
                <a:latin typeface="Calibri"/>
              </a:defRPr>
            </a:pPr>
            <a:r>
              <a:t>• Savile Cashmere Overcoat: Cost £145 | Retail £480 | Margin: £335 (69.8%)</a:t>
            </a:r>
          </a:p>
          <a:p>
            <a:pPr>
              <a:spcBef>
                <a:spcPts val="600"/>
              </a:spcBef>
              <a:defRPr sz="1100">
                <a:solidFill>
                  <a:srgbClr val="94A3B8"/>
                </a:solidFill>
                <a:latin typeface="Calibri"/>
              </a:defRPr>
            </a:pPr>
            <a:r>
              <a:t>• Double-Breasted Blazer: Cost £85 | Retail £295 | Margin: £210 (71.2%)</a:t>
            </a:r>
          </a:p>
          <a:p>
            <a:pPr>
              <a:spcBef>
                <a:spcPts val="600"/>
              </a:spcBef>
              <a:defRPr sz="1100">
                <a:solidFill>
                  <a:srgbClr val="94A3B8"/>
                </a:solidFill>
                <a:latin typeface="Calibri"/>
              </a:defRPr>
            </a:pPr>
            <a:r>
              <a:t>• Mulberry Silk Evening Slip: Cost £70 | Retail £240 | Margin: £170 (70.8%)</a:t>
            </a:r>
          </a:p>
          <a:p>
            <a:pPr>
              <a:spcBef>
                <a:spcPts val="600"/>
              </a:spcBef>
              <a:defRPr sz="1100">
                <a:solidFill>
                  <a:srgbClr val="94A3B8"/>
                </a:solidFill>
                <a:latin typeface="Calibri"/>
              </a:defRPr>
            </a:pPr>
            <a:r>
              <a:t>• Heavyweight French Terry Hoodie: Cost £38 | Retail £125 | Margin: £87 (69.6%)</a:t>
            </a:r>
          </a:p>
          <a:p>
            <a:pPr>
              <a:spcBef>
                <a:spcPts val="600"/>
              </a:spcBef>
              <a:defRPr sz="1100">
                <a:solidFill>
                  <a:srgbClr val="94A3B8"/>
                </a:solidFill>
                <a:latin typeface="Calibri"/>
              </a:defRPr>
            </a:pPr>
            <a:r>
              <a:t>• Promotional Voucher Viability: With voucher SEN803 (20% off) applied on a £300 basket, the order produces £152 in gross profit (63.3% margin), keeping acquisition profitable on day one.</a:t>
            </a:r>
          </a:p>
        </p:txBody>
      </p:sp>
      <p:sp>
        <p:nvSpPr>
          <p:cNvPr id="9" name="Rounded Rectangle 8"/>
          <p:cNvSpPr/>
          <p:nvPr/>
        </p:nvSpPr>
        <p:spPr>
          <a:xfrm>
            <a:off x="6217920" y="1737360"/>
            <a:ext cx="5212080" cy="4389120"/>
          </a:xfrm>
          <a:prstGeom prst="roundRect">
            <a:avLst/>
          </a:prstGeom>
          <a:solidFill>
            <a:srgbClr val="132238"/>
          </a:solidFill>
          <a:ln w="12700">
            <a:solidFill>
              <a:srgbClr val="283D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828800"/>
            <a:ext cx="4846320" cy="4114800"/>
          </a:xfrm>
          <a:prstGeom prst="rect">
            <a:avLst/>
          </a:prstGeom>
          <a:noFill/>
        </p:spPr>
        <p:txBody>
          <a:bodyPr wrap="square">
            <a:spAutoFit/>
          </a:bodyPr>
          <a:lstStyle/>
          <a:p>
            <a:pPr>
              <a:defRPr sz="1200" b="1">
                <a:solidFill>
                  <a:srgbClr val="10B981"/>
                </a:solidFill>
                <a:latin typeface="Arial"/>
              </a:defRPr>
            </a:pPr>
            <a:r>
              <a:t>3-YEAR PRO FORMA FORECAST</a:t>
            </a:r>
          </a:p>
          <a:p>
            <a:pPr>
              <a:spcBef>
                <a:spcPts val="800"/>
              </a:spcBef>
              <a:defRPr sz="1100">
                <a:solidFill>
                  <a:srgbClr val="FFFFFF"/>
                </a:solidFill>
                <a:latin typeface="Calibri"/>
              </a:defRPr>
            </a:pPr>
            <a:r>
              <a:t>📊 Year 1 (Launch): 3,200 Orders | £672,000 GMV | £456,960 Gross Profit (68%) | Net EBITDA: £216,960 (32.3%)</a:t>
            </a:r>
          </a:p>
          <a:p>
            <a:pPr>
              <a:spcBef>
                <a:spcPts val="800"/>
              </a:spcBef>
              <a:defRPr sz="1100">
                <a:solidFill>
                  <a:srgbClr val="FFFFFF"/>
                </a:solidFill>
                <a:latin typeface="Calibri"/>
              </a:defRPr>
            </a:pPr>
            <a:r>
              <a:t>📊 Year 2 (Expansion): 8,500 Orders | £1,997,500 GMV | £1,378,275 Gross Profit | Net EBITDA: £794,275 (39.8%)</a:t>
            </a:r>
          </a:p>
          <a:p>
            <a:pPr>
              <a:spcBef>
                <a:spcPts val="800"/>
              </a:spcBef>
              <a:defRPr sz="1100">
                <a:solidFill>
                  <a:srgbClr val="FFFFFF"/>
                </a:solidFill>
                <a:latin typeface="Calibri"/>
              </a:defRPr>
            </a:pPr>
            <a:r>
              <a:t>📊 Year 3 (Maturity): 19,200 Orders | £4,992,000 GMV | £3,494,400 Gross Profit | Net EBITDA: £2,183,400 (43.7%)</a:t>
            </a:r>
          </a:p>
          <a:p>
            <a:pPr>
              <a:spcBef>
                <a:spcPts val="800"/>
              </a:spcBef>
              <a:defRPr sz="1100">
                <a:solidFill>
                  <a:srgbClr val="FFFFFF"/>
                </a:solidFill>
                <a:latin typeface="Calibri"/>
              </a:defRPr>
            </a:pPr>
            <a:r>
              <a:t>📊 Key Unit Metrics: Average Order Value (AOV) £210–£260; Customer Acquisition Cost (CAC) £45; Lifetime Value (LTV) £780.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7315200" cy="365760"/>
          </a:xfrm>
          <a:prstGeom prst="rect">
            <a:avLst/>
          </a:prstGeom>
          <a:noFill/>
        </p:spPr>
        <p:txBody>
          <a:bodyPr wrap="square">
            <a:spAutoFit/>
          </a:bodyPr>
          <a:lstStyle/>
          <a:p>
            <a:pPr>
              <a:defRPr sz="1000" b="1">
                <a:solidFill>
                  <a:srgbClr val="C5A880"/>
                </a:solidFill>
                <a:latin typeface="Arial"/>
              </a:defRPr>
            </a:pPr>
            <a:r>
              <a:t>SLIDE 9 • RISK &amp; SCALABILITY</a:t>
            </a:r>
          </a:p>
        </p:txBody>
      </p:sp>
      <p:sp>
        <p:nvSpPr>
          <p:cNvPr id="4" name="TextBox 3"/>
          <p:cNvSpPr txBox="1"/>
          <p:nvPr/>
        </p:nvSpPr>
        <p:spPr>
          <a:xfrm>
            <a:off x="9601200" y="365760"/>
            <a:ext cx="1828800" cy="320040"/>
          </a:xfrm>
          <a:prstGeom prst="rect">
            <a:avLst/>
          </a:prstGeom>
          <a:noFill/>
        </p:spPr>
        <p:txBody>
          <a:bodyPr wrap="none">
            <a:spAutoFit/>
          </a:bodyPr>
          <a:lstStyle/>
          <a:p>
            <a:pPr algn="r">
              <a:defRPr sz="1100" b="1">
                <a:solidFill>
                  <a:srgbClr val="C5A880"/>
                </a:solidFill>
                <a:latin typeface="Arial"/>
              </a:defRPr>
            </a:pPr>
            <a:r>
              <a:t>⏱ 8:15 – 9:00</a:t>
            </a:r>
          </a:p>
        </p:txBody>
      </p:sp>
      <p:sp>
        <p:nvSpPr>
          <p:cNvPr id="5" name="TextBox 4"/>
          <p:cNvSpPr txBox="1"/>
          <p:nvPr/>
        </p:nvSpPr>
        <p:spPr>
          <a:xfrm>
            <a:off x="731520" y="731520"/>
            <a:ext cx="10698480" cy="731520"/>
          </a:xfrm>
          <a:prstGeom prst="rect">
            <a:avLst/>
          </a:prstGeom>
          <a:noFill/>
        </p:spPr>
        <p:txBody>
          <a:bodyPr wrap="square">
            <a:spAutoFit/>
          </a:bodyPr>
          <a:lstStyle/>
          <a:p>
            <a:pPr>
              <a:defRPr sz="2200" b="1">
                <a:solidFill>
                  <a:srgbClr val="FFFFFF"/>
                </a:solidFill>
                <a:latin typeface="Georgia"/>
              </a:defRPr>
            </a:pPr>
            <a:r>
              <a:t>Risk Assessment &amp; Cloud Scalability Roadmap</a:t>
            </a:r>
          </a:p>
        </p:txBody>
      </p:sp>
      <p:sp>
        <p:nvSpPr>
          <p:cNvPr id="6" name="Rectangle 5"/>
          <p:cNvSpPr/>
          <p:nvPr/>
        </p:nvSpPr>
        <p:spPr>
          <a:xfrm>
            <a:off x="731520" y="1508760"/>
            <a:ext cx="10728655" cy="18288"/>
          </a:xfrm>
          <a:prstGeom prst="rect">
            <a:avLst/>
          </a:prstGeom>
          <a:solidFill>
            <a:srgbClr val="283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737360"/>
            <a:ext cx="5212080" cy="2103120"/>
          </a:xfrm>
          <a:prstGeom prst="roundRect">
            <a:avLst/>
          </a:prstGeom>
          <a:solidFill>
            <a:srgbClr val="132238"/>
          </a:solidFill>
          <a:ln w="12700">
            <a:solidFill>
              <a:srgbClr val="283D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74520"/>
            <a:ext cx="4846320" cy="1828800"/>
          </a:xfrm>
          <a:prstGeom prst="rect">
            <a:avLst/>
          </a:prstGeom>
          <a:noFill/>
        </p:spPr>
        <p:txBody>
          <a:bodyPr wrap="square">
            <a:spAutoFit/>
          </a:bodyPr>
          <a:lstStyle/>
          <a:p>
            <a:pPr>
              <a:defRPr sz="1300" b="1">
                <a:solidFill>
                  <a:srgbClr val="C5A880"/>
                </a:solidFill>
                <a:latin typeface="Arial"/>
              </a:defRPr>
            </a:pPr>
            <a:r>
              <a:t>🛡 Flash Drop Traffic Spikes</a:t>
            </a:r>
          </a:p>
          <a:p>
            <a:pPr>
              <a:spcBef>
                <a:spcPts val="600"/>
              </a:spcBef>
              <a:defRPr sz="1150">
                <a:solidFill>
                  <a:srgbClr val="94A3B8"/>
                </a:solidFill>
                <a:latin typeface="Calibri"/>
              </a:defRPr>
            </a:pPr>
            <a:r>
              <a:t>Containerized Docker microservices orchestrated across AWS ECS with automatic horizontal pod scaling during high-traffic capsule launches.</a:t>
            </a:r>
          </a:p>
        </p:txBody>
      </p:sp>
      <p:sp>
        <p:nvSpPr>
          <p:cNvPr id="9" name="Rounded Rectangle 8"/>
          <p:cNvSpPr/>
          <p:nvPr/>
        </p:nvSpPr>
        <p:spPr>
          <a:xfrm>
            <a:off x="6217920" y="1737360"/>
            <a:ext cx="5212080" cy="2103120"/>
          </a:xfrm>
          <a:prstGeom prst="roundRect">
            <a:avLst/>
          </a:prstGeom>
          <a:solidFill>
            <a:srgbClr val="132238"/>
          </a:solidFill>
          <a:ln w="12700">
            <a:solidFill>
              <a:srgbClr val="283D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874520"/>
            <a:ext cx="4846320" cy="1828800"/>
          </a:xfrm>
          <a:prstGeom prst="rect">
            <a:avLst/>
          </a:prstGeom>
          <a:noFill/>
        </p:spPr>
        <p:txBody>
          <a:bodyPr wrap="square">
            <a:spAutoFit/>
          </a:bodyPr>
          <a:lstStyle/>
          <a:p>
            <a:pPr>
              <a:defRPr sz="1300" b="1">
                <a:solidFill>
                  <a:srgbClr val="C5A880"/>
                </a:solidFill>
                <a:latin typeface="Arial"/>
              </a:defRPr>
            </a:pPr>
            <a:r>
              <a:t>🛡 Global Content Latency</a:t>
            </a:r>
          </a:p>
          <a:p>
            <a:pPr>
              <a:spcBef>
                <a:spcPts val="600"/>
              </a:spcBef>
              <a:defRPr sz="1150">
                <a:solidFill>
                  <a:srgbClr val="94A3B8"/>
                </a:solidFill>
                <a:latin typeface="Calibri"/>
              </a:defRPr>
            </a:pPr>
            <a:r>
              <a:t>Offloading high-resolution product photography and assets to Cloudflare Edge CDN with Brotli compression and image WebP caching.</a:t>
            </a:r>
          </a:p>
        </p:txBody>
      </p:sp>
      <p:sp>
        <p:nvSpPr>
          <p:cNvPr id="11" name="Rounded Rectangle 10"/>
          <p:cNvSpPr/>
          <p:nvPr/>
        </p:nvSpPr>
        <p:spPr>
          <a:xfrm>
            <a:off x="731520" y="4023360"/>
            <a:ext cx="5212080" cy="2103120"/>
          </a:xfrm>
          <a:prstGeom prst="roundRect">
            <a:avLst/>
          </a:prstGeom>
          <a:solidFill>
            <a:srgbClr val="132238"/>
          </a:solidFill>
          <a:ln w="12700">
            <a:solidFill>
              <a:srgbClr val="283D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160520"/>
            <a:ext cx="4846320" cy="1828800"/>
          </a:xfrm>
          <a:prstGeom prst="rect">
            <a:avLst/>
          </a:prstGeom>
          <a:noFill/>
        </p:spPr>
        <p:txBody>
          <a:bodyPr wrap="square">
            <a:spAutoFit/>
          </a:bodyPr>
          <a:lstStyle/>
          <a:p>
            <a:pPr>
              <a:defRPr sz="1300" b="1">
                <a:solidFill>
                  <a:srgbClr val="C5A880"/>
                </a:solidFill>
                <a:latin typeface="Arial"/>
              </a:defRPr>
            </a:pPr>
            <a:r>
              <a:t>🛡 High-Concurrency Cart Sessions</a:t>
            </a:r>
          </a:p>
          <a:p>
            <a:pPr>
              <a:spcBef>
                <a:spcPts val="600"/>
              </a:spcBef>
              <a:defRPr sz="1150">
                <a:solidFill>
                  <a:srgbClr val="94A3B8"/>
                </a:solidFill>
                <a:latin typeface="Calibri"/>
              </a:defRPr>
            </a:pPr>
            <a:r>
              <a:t>In-memory Redis session caching layer providing sub-millisecond cart read/writes and coupon code validations.</a:t>
            </a:r>
          </a:p>
        </p:txBody>
      </p:sp>
      <p:sp>
        <p:nvSpPr>
          <p:cNvPr id="13" name="Rounded Rectangle 12"/>
          <p:cNvSpPr/>
          <p:nvPr/>
        </p:nvSpPr>
        <p:spPr>
          <a:xfrm>
            <a:off x="6217920" y="4023360"/>
            <a:ext cx="5212080" cy="2103120"/>
          </a:xfrm>
          <a:prstGeom prst="roundRect">
            <a:avLst/>
          </a:prstGeom>
          <a:solidFill>
            <a:srgbClr val="132238"/>
          </a:solidFill>
          <a:ln w="12700">
            <a:solidFill>
              <a:srgbClr val="283D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4160520"/>
            <a:ext cx="4846320" cy="1828800"/>
          </a:xfrm>
          <a:prstGeom prst="rect">
            <a:avLst/>
          </a:prstGeom>
          <a:noFill/>
        </p:spPr>
        <p:txBody>
          <a:bodyPr wrap="square">
            <a:spAutoFit/>
          </a:bodyPr>
          <a:lstStyle/>
          <a:p>
            <a:pPr>
              <a:defRPr sz="1300" b="1">
                <a:solidFill>
                  <a:srgbClr val="C5A880"/>
                </a:solidFill>
                <a:latin typeface="Arial"/>
              </a:defRPr>
            </a:pPr>
            <a:r>
              <a:t>🛡 Regulatory &amp; Data Compliance</a:t>
            </a:r>
          </a:p>
          <a:p>
            <a:pPr>
              <a:spcBef>
                <a:spcPts val="600"/>
              </a:spcBef>
              <a:defRPr sz="1150">
                <a:solidFill>
                  <a:srgbClr val="94A3B8"/>
                </a:solidFill>
                <a:latin typeface="Calibri"/>
              </a:defRPr>
            </a:pPr>
            <a:r>
              <a:t>Strict GDPR compliance with encrypted patron data storage, explicit cookie preferences, and PCI-DSS tokenized payment gateway integration.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7315200" cy="365760"/>
          </a:xfrm>
          <a:prstGeom prst="rect">
            <a:avLst/>
          </a:prstGeom>
          <a:noFill/>
        </p:spPr>
        <p:txBody>
          <a:bodyPr wrap="square">
            <a:spAutoFit/>
          </a:bodyPr>
          <a:lstStyle/>
          <a:p>
            <a:pPr>
              <a:defRPr sz="1000" b="1">
                <a:solidFill>
                  <a:srgbClr val="C5A880"/>
                </a:solidFill>
                <a:latin typeface="Arial"/>
              </a:defRPr>
            </a:pPr>
            <a:r>
              <a:t>SLIDE 10 • ACADEMIC EVALUATION</a:t>
            </a:r>
          </a:p>
        </p:txBody>
      </p:sp>
      <p:sp>
        <p:nvSpPr>
          <p:cNvPr id="4" name="TextBox 3"/>
          <p:cNvSpPr txBox="1"/>
          <p:nvPr/>
        </p:nvSpPr>
        <p:spPr>
          <a:xfrm>
            <a:off x="9601200" y="365760"/>
            <a:ext cx="1828800" cy="320040"/>
          </a:xfrm>
          <a:prstGeom prst="rect">
            <a:avLst/>
          </a:prstGeom>
          <a:noFill/>
        </p:spPr>
        <p:txBody>
          <a:bodyPr wrap="none">
            <a:spAutoFit/>
          </a:bodyPr>
          <a:lstStyle/>
          <a:p>
            <a:pPr algn="r">
              <a:defRPr sz="1100" b="1">
                <a:solidFill>
                  <a:srgbClr val="C5A880"/>
                </a:solidFill>
                <a:latin typeface="Arial"/>
              </a:defRPr>
            </a:pPr>
            <a:r>
              <a:t>⏱ 9:00 – 10:00</a:t>
            </a:r>
          </a:p>
        </p:txBody>
      </p:sp>
      <p:sp>
        <p:nvSpPr>
          <p:cNvPr id="5" name="TextBox 4"/>
          <p:cNvSpPr txBox="1"/>
          <p:nvPr/>
        </p:nvSpPr>
        <p:spPr>
          <a:xfrm>
            <a:off x="731520" y="731520"/>
            <a:ext cx="10698480" cy="731520"/>
          </a:xfrm>
          <a:prstGeom prst="rect">
            <a:avLst/>
          </a:prstGeom>
          <a:noFill/>
        </p:spPr>
        <p:txBody>
          <a:bodyPr wrap="square">
            <a:spAutoFit/>
          </a:bodyPr>
          <a:lstStyle/>
          <a:p>
            <a:pPr>
              <a:defRPr sz="2200" b="1">
                <a:solidFill>
                  <a:srgbClr val="FFFFFF"/>
                </a:solidFill>
                <a:latin typeface="Georgia"/>
              </a:defRPr>
            </a:pPr>
            <a:r>
              <a:t>Conclusion &amp; Course Project Summary</a:t>
            </a:r>
          </a:p>
        </p:txBody>
      </p:sp>
      <p:sp>
        <p:nvSpPr>
          <p:cNvPr id="6" name="Rectangle 5"/>
          <p:cNvSpPr/>
          <p:nvPr/>
        </p:nvSpPr>
        <p:spPr>
          <a:xfrm>
            <a:off x="731520" y="1508760"/>
            <a:ext cx="10728655" cy="18288"/>
          </a:xfrm>
          <a:prstGeom prst="rect">
            <a:avLst/>
          </a:prstGeom>
          <a:solidFill>
            <a:srgbClr val="283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97280" y="1737360"/>
            <a:ext cx="9966960" cy="4389120"/>
          </a:xfrm>
          <a:prstGeom prst="roundRect">
            <a:avLst/>
          </a:prstGeom>
          <a:solidFill>
            <a:srgbClr val="132238"/>
          </a:solidFill>
          <a:ln w="12700">
            <a:solidFill>
              <a:srgbClr val="C5A8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1920240"/>
            <a:ext cx="9418320" cy="4023360"/>
          </a:xfrm>
          <a:prstGeom prst="rect">
            <a:avLst/>
          </a:prstGeom>
          <a:noFill/>
        </p:spPr>
        <p:txBody>
          <a:bodyPr wrap="square">
            <a:spAutoFit/>
          </a:bodyPr>
          <a:lstStyle/>
          <a:p>
            <a:pPr>
              <a:defRPr sz="1400" b="1">
                <a:solidFill>
                  <a:srgbClr val="C5A880"/>
                </a:solidFill>
                <a:latin typeface="Arial"/>
              </a:defRPr>
            </a:pPr>
            <a:r>
              <a:t>FULL COMPLIANCE WITH SEN 803 PROJECT REQUIREMENTS</a:t>
            </a:r>
          </a:p>
          <a:p>
            <a:pPr>
              <a:spcBef>
                <a:spcPts val="800"/>
              </a:spcBef>
              <a:defRPr sz="1200">
                <a:solidFill>
                  <a:srgbClr val="FFFFFF"/>
                </a:solidFill>
                <a:latin typeface="Calibri"/>
              </a:defRPr>
            </a:pPr>
            <a:r>
              <a:t>✓ Prototype Business Portal (60 Marks): Fully developed, interactive B2C portal featuring dynamic catalog, automated voucher pricing, multi-rail checkout, 4-stage tracking, and admin back-office.</a:t>
            </a:r>
          </a:p>
          <a:p>
            <a:pPr>
              <a:spcBef>
                <a:spcPts val="800"/>
              </a:spcBef>
              <a:defRPr sz="1200">
                <a:solidFill>
                  <a:srgbClr val="FFFFFF"/>
                </a:solidFill>
                <a:latin typeface="Calibri"/>
              </a:defRPr>
            </a:pPr>
            <a:r>
              <a:t>✓ Business Plan Report (30 Marks): Comprehensive academic report in Word format (.docx) detailing strategic market positioning, IT value creation, and 3-year financial forecasts.</a:t>
            </a:r>
          </a:p>
          <a:p>
            <a:pPr>
              <a:spcBef>
                <a:spcPts val="800"/>
              </a:spcBef>
              <a:defRPr sz="1200">
                <a:solidFill>
                  <a:srgbClr val="FFFFFF"/>
                </a:solidFill>
                <a:latin typeface="Calibri"/>
              </a:defRPr>
            </a:pPr>
            <a:r>
              <a:t>✓ 10-Minute Presentation &amp; Local Server Walkthrough (10%): Live demonstration on local Apache/PHP server on http://localhost:8000/ with dual-driver SQLite/MySQL zero-config portability.</a:t>
            </a:r>
          </a:p>
          <a:p>
            <a:pPr>
              <a:spcBef>
                <a:spcPts val="800"/>
              </a:spcBef>
              <a:defRPr sz="1200">
                <a:solidFill>
                  <a:srgbClr val="FFFFFF"/>
                </a:solidFill>
                <a:latin typeface="Calibri"/>
              </a:defRPr>
            </a:pPr>
            <a:r>
              <a:t>✓ Commercial Viability Proven: 65% gross margins, automated customer retention, and sound promotional economics.</a:t>
            </a:r>
          </a:p>
          <a:p>
            <a:br/>
            <a:pPr>
              <a:defRPr sz="1300" b="1">
                <a:solidFill>
                  <a:srgbClr val="E5D4BE"/>
                </a:solidFill>
                <a:latin typeface="Georgia"/>
              </a:defRPr>
            </a:pPr>
            <a:r>
              <a:t>Thank you for your time and evaluation. I welcome your questions and examination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